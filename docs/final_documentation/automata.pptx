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Ken — Project Leader
SAY: Good morning, panel. We are Team CCAUTOMA, and this is the Smart Employee ID Validator. On the surface it checks whether a string like EMP-2026-0042 is a valid employee ID. But the real point of the project is how it does that. We start from a formal language, write it as a regular expression, and then let algorithms build the machine for us: Thompson's construction gives an epsilon-NFA, subset construction gives a DFA, Moore's algorithm minimizes it, and the simulator runs it in a GUI. Nobody typed a transition table by hand.
Quick introductions: Mark Anub defined the language and designed the DFA. Rey Ayson handled documentation and diagrams. James Dotosme led the presentation and evidence. Chester Lauzon programmed the system and optimized the automaton. Isiah Perito tested it. I'm Ken Talingting, project leader — I coordinated the work.
EMPHASIS: This is not just a validator — it is a formal language turned into an executable automaton, algorithmically.
TRANSITION: To start, Mark will define exactly which language we are recognizing.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Mark Anub — Language Analyst / DFA Designer
SAY: Every valid ID follows one pattern: EMP, a hyphen, four digits for the year, another hyphen, and four digits for the number. That's exactly 13 symbols, every time.
Our alphabet Sigma has 14 symbols: the letters E, M and P, the hyphen, and the ten digits. Nothing else. A lowercase e, a space, or an underscore is not in the alphabet at all.
Formally, L is the set of strings over Sigma of the form EMP-d1d2d3d4-d5d6d7d8 where each d is a digit. There are 8 free digit positions with 10 choices each, so the language has exactly 10 to the 8th — one hundred million — strings.
Because L is finite, it is regular. Every finite language is regular, so a DFA for it is guaranteed to exist.
EMPHASIS: Fixed length 13, alphabet of 14, 10^8 strings, finite therefore regular.
IF ASKED — 'Why is it regular?': because it is finite; any finite set of strings can be written as a union of those strings, which is a regular expression.
IF ASKED — 'Why restrict the alphabet?': it makes the automaton's input precise and lets us report characters outside Sigma as a separate error.
TRANSITION: James will now show how we turn this definition into 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James Dotosme — Presentation Lead
SAY: Here is the whole technical story on one slide. Each stage takes the output of the stage before it and computes the next one.
We start with the regular expression as a syntax tree. Thompson's construction turns it into an epsilon-NFA with 26 states. Subset construction turns that into a DFA with 15 states. Moore's partition refinement minimizes it — and it stays at 15, which Chester will explain. The final DFA is what the simulator and the GUI actually run.
The key point is the red line: there is no hand-written transition table anywhere in the core validation logic. If we changed the regular expression, every stage would be regenerated.
EMPHASIS: The machine is derived, not hand-coded. 26 → 15 → 15.
IF ASKED — 'Did you check the DFA by hand?': the derivation is algorithmic, and the next slides show how we verified the result formally and with tests.
TRANSITION: Chester will walk through each construction, starting with Thompson's ε-NFA.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Chester Lauzon — Programmer / Automata Optimizer
SAY: Thompson's construction works bottom-up on the regex tree. Every symbol becomes a small two-state fragment, and concatenation glues fragments together with epsilon transitions. That's why you see the dashed epsilon arrows between every symbol in the diagram.
One implementation choice: a digit D is formally a union of ten alternatives. Built literally, that would create a lot of extra branch states for every digit position. Instead, we treat the digit class as one atom with 10 parallel transitions between the same two states. The language is exactly the same — it just avoids an unnecessary state explosion.
The result is 26 states, n0 to n25, with 12 epsilon transitions. n0 is the start state and n25 is the only accepting state.
EMPHASIS: The NFA is generated from the regex structure; the digit atom keeps it compact without changing L.
IF ASKED — 'Doesn't collapsing the union change the construction?': no; a union of single symbols and one transition per symbol accept exactly the same strings.
TRANSITION: An NFA can be in several states at once, so next we make it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Chester Lauzon — Programmer / Automata Optimizer
SAY: Rabin–Scott subset construction turns the NFA into a DFA. Each DFA state represents a set of NFA states. We start with the epsilon-closure of n0. Then, for every subset S and every symbol a, we compute move(S, a) and take its epsilon-closure. If that set is new, it becomes a new DFA state.
Running this to completion gives 14 live states, D0 to D13, plus one explicit trap state. Any symbol that is not allowed at a position sends the machine to Dtrap, and Dtrap loops to itself on everything.
That gives us a complete transition function: all 15 states have a defined move for all 14 symbols of Sigma. We never hit an 'undefined' case at runtime.
EMPHASIS: The DFA is computed from the NFA — 14 live states plus one trap, complete over Σ.
IF ASKED — 'Why 15 states?': one state per position read, 0 through 13, plus the trap.
IF ASKED — 'Why an explicit trap state?': it makes δ total, so the simulator can show exactly where an input fails.
TRANSITION: The obvious next question is whether 15 is the smallest possible DFA.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Chester Lauzon — Programmer / Automata Optimizer
SAY: We minimize with Moore's partition refinement. The first partition splits accepting from non-accepting: D13 on its own, everything else — including the trap — in one block. Then we keep splitting blocks whenever two states go to different blocks on the same symbol. It takes 13 rounds to stabilize, and at the end, zero states have merged. 15 in, 15 out.
Why? Look at the strip. From state D-i, the shortest accepted word has exactly 13 minus i symbols. D0 needs 13, D12 needs 1, D13 needs 0, and the trap can never accept — distance infinity. If two states had different distances, some suffix is accepted from one and not the other. Every state here has a different distance, so every pair is distinguishable.
I want to be clear: zero merges is not a failed optimization. It's the expected mathematical result for this language. The optimizer's job is to prove the DFA is minimal, not just to make it smaller.
EMPHASIS: Unique shortest-accepting distances ⇒ pairwise distinguishable ⇒ already minimal.
IF ASKED — 'Why run minimization if nothing merges?': because without it, minimality is a claim; with it, it's verified — and it would catch redundancy if the regex changed.
TRANSITION: Isiah will show how we verified the minimized DFA accepts the same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Isiah Perito — Tester / QA
SAY: We verified the result in two independent ways.
On the left is the formal check. We build the product automaton of the subset DFA and the minimized DFA, and explore it with breadth-first search. Each reachable pair of states is checked: if one accepts and the other doesn't, the machines differ. We reached 15 state-pairs and found zero discrepancies. That proves they recognize the same language.
On the right is empirical, differential testing. We compared our automaton against Python's re.fullmatch on 41,371 strings — every string of length 4 or less over the alphabet — plus 20,000 randomized and mutated inputs, including Unicode look-alike characters such as a Cyrillic letter that looks like E. Zero disagreements.
EMPHASIS: The tests don't replace the proof — they back it up from a completely different direction.
IF ASKED — 'How does formal verification differ from differential testing?': BFS over the product automaton covers every reachable state pair, so it is a proof of equivalence between our two DFAs. Differential testing compares against an independent reference on concrete inputs; it can't prove, but it catches mistakes in how we defined the language itself.
TRANSITION: Chester will now show how all of this is organized as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Chester Lauzon — Programmer / Automata Optimizer
SAY: The code has three layers. At the bottom is the automata core: nfa.py, dfa.py, minimizer.py, pipeline.py which chains the stages, and simulator.py which runs the result. In the middle, the services — SimulationService and ValidationService — package results for the interface. At the top, the PySide6 pages: Simulate, Theory and Tests.
The GUI never implements automaton logic itself. It only renders structured results from the services.
Every validation goes through the same path. First, an alphabet filter rejects anything outside Sigma and reports the exact symbol and position. Then the automaton traverses the input. Then the result is packaged. That traversal is app.core.simulator.Run — one engine used for batch validation, step-by-step execution and the GUI animation. So the batch validator and the animated simulator can't quietly disagree.
EMPHASIS: One simulation engine is the single source of truth.
IF ASKED — 'How does the GUI stay separate from the automata logic?': the pages only call services and draw what comes back; all decisions happen in app.core.
TRANSITION: James will show what that looks like for a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James Dotosme — Presentation Lead
SAY: This is the Simulate page, mid-run on EMP-2026-0042. Everything on screen comes from the same automaton we just built.
(1) The tape at the top shows each symbol and highlights the one being read. (2) The coloured bars under the tape show which part of the regular expression each symbol belongs to — prefix, separator, year, number. (3) In the diagram, the amber arrow is the transition being taken right now. (4) States already visited stay tinted, so you can see the path so far. (5) The controls let you play, pause, step forward and step backward. Keyboard works too: Space to play or pause, the arrow keys to step, Ctrl+R to reset.
The transition history on the right logs every move, and you can switch the model to the pre-minimization DFA or the ε-NFA.
EMPHASIS: The GUI is designed to make automata theory observable — you can watch δ being applied one symbol at a time.
TRANSITION: Let's run a complete valid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James Dotosme — Presentation Lead (live demo)
SAY: (Switch to the app.) I'll type EMP-2026-0042 and press Play. Watch three things: the highlighted symbol on the tape, the amber transition in the diagram, and the state number.
E takes us from q0 to q1, M to q2, P to q3, the hyphen to q4. Then four digits for the year carry us to q8, the second hyphen to q9, and four more digits to q13. After 13 symbols we are in q13 — the double-ringed accepting state — and the banner reads ACCEPTED.
The point of this demo is not the result itself; Python could tell us that in one line. The point is that the DFA we derived on the previous slides is the thing actually running, symbol by symbol.
DEMO TIPS: If the live app has trouble, this slide's screenshot is the fallback. Use Step instead of Play if the panel wants to slow down.
IF ASKED — 'Why not just use Python re?': because the goal is an inspectable, algorithmically derived state machine, not a black-box yes/no.
TRANSITION: Mark and Chester will show what happens when the input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Mark Anub (language) + Chester Lauzon (implementation)
MARK SAYS: Not every invalid ID fails for the same reason. In Case A, EMP2026-0001, every character is in Sigma — the problem is order. After EMP, the language requires a hyphen, but we read a 2. In Case B, EMP-2026-12A4, the letter A is simply not in our alphabet. That string isn't even a word over Sigma.
CHESTER SAYS: The implementation treats these differently. For Case A, the automaton runs normally: q0, q1, q2, q3, then on '2' there's no valid move from q3, so it goes to the trap state and stays there. The GUI shows the dashed red edge into q_trap. For Case B, the alphabet pre-filter catches 'A' before the automaton runs at all, and reports the exact symbol and its position.
EMPHASIS: Structural rejection happens inside the DFA (trap state); alphabet rejection happens before it (pre-filter).
IF ASKED — 'Why not just let A go to the trap state?': the DFA is defined over Σ, so A has no transition by definition; filtering first keeps δ honest and gives the user a more precise error.
TRANSITION: Isiah will show how we tested these cases and many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Isiah Perito — Tester / QA
SAY: Our predefined suite has 28 cases: 10 valid and 18 invalid. You can see them on the Tests page — every one passes, and the NFA, the DFA and the minimal DFA agree on all 28 inputs.
Behind that, the project has more than 250 automated tests, in three groups: unit tests for each core module, integration tests for the full pipeline, and GUI tests that run offscreen.
The invalid cases were chosen to hit the edges: boundary years like 2000 and 2099, wrong or lowercase prefixes, missing, doubled or wrong separators such as underscores, IDs that are too short, the empty string, and whitespace. Each one checks a specific way an ID can be almost right.
EMPHASIS: We test the boundaries, not just the happy path — and all three models must agree.
IF ASKED — 'How do you know the tests are right?': each expected result comes from the language definition, and the differential tests on the previous slide check against an independent reference.
TRANSITION: Rey and Chester will close the technical part with our main engineering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Chester Lauzon (cards 1–2) + Rey Ayson — Documentation (cards 3–4)
CHESTER SAYS: Two decisions shaped the code. First, one simulation engine — app.core.simulator.Run — powers both GUI stepping and batch validation, so they can never implement different logic. Second, the character-class Thompson atom: we merge the ten digit alternatives into one atom with ten parallel transitions. It keeps the NFA small without changing the language.
REY SAYS: On the documentation side, our tables and diagrams aren't typed by hand either. The verification and documentation artifacts are regenerated from the implementation, so if the code changes, the documents change with it — and there's a check mode that flags when they're out of date. Finally, accessibility: the simulator can be used fully from the keyboard, and it supports reduced motion for users who don't want animated transitions.
EMPHASIS: The same 'derive, don't hand-type' rule applies to the code, the docs and the diagrams.
IF ASKED — 'How do you keep the documentation accurate?': it is generated from the same objects the program uses.
TRANSITION: Ken will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Ken Talingting — Project Leader
SAY: To sum up: we started from a formal definition of employee IDs and derived the whole machine — regex, ε-NFA, DFA, minimal DFA — algorithmically, then ran it in an educational simulator. Three things we can stand behind: the 15-state DFA is minimal, its equivalence is formally verified, and the GUI works and shows the theory step by step.
Each of us owned a piece: Mark the language, Rey the documentation, James the presentation, Chester the implementation and optimization, Isiah the testing, and I coordinated. Thank you — we're happy to take your questions.
Q&amp;A BANK (answer owner in brackets)
• Why is the language regular? [Mark] It is finite — 10^8 strings — and every finite language is regular.
• Why did minimization merge zero states? [Chester] Each live state has a unique shortest accepting distance, 13 − i, and the trap's is ∞, so all states are distinguishable.
• Why run minimization if nothing merges? [Chester] It turns 'we think it's minimal' into a verified result, and it would catch redundancy if the regex changed.
• Why not use Python re directly? [Chester] The goal is an inspectable, algorithmically derived finite-state machine, not a black-box validator. We do use re.fullmatch — as an independent reference in testing.
• Why an explicit trap state? [Chester] It makes δ total over Σ, so every input ends in a defined state and the GUI can show where it failed.
• Why restrict the alphabet? [Mark] The DFA is defined over Σ; symbols outside it are reported separately with their position.
• Why does subset construction produce 15 states? [Chester] One live state per number of symbols read, 0 to 13, plus the trap.
• Formal verification vs differential testing? [Isiah] Product BFS proves the two DFAs equivalent; differential testing checks our language against an independent reference.
• How is the GUI kept separate from automata logic? [Chester] Pages only render results from services; all logic lives in app.core.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352399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CCAUTOMA · 1ST AY 2026</a:t>
            </a:r>
            <a:endParaRPr lang="en-US" sz="1800" dirty="0"/>
          </a:p>
        </p:txBody>
      </p:sp>
      <p:sp>
        <p:nvSpPr>
          <p:cNvPr id="4" name="Text 2"/>
          <p:cNvSpPr/>
          <p:nvPr/>
        </p:nvSpPr>
        <p:spPr>
          <a:xfrm>
            <a:off x="11591954" y="495267"/>
            <a:ext cx="610835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FORMAL LANGUAGES &amp; AUTOMATA THEORY</a:t>
            </a:r>
            <a:endParaRPr lang="en-US" sz="1800" dirty="0"/>
          </a:p>
        </p:txBody>
      </p:sp>
      <p:sp>
        <p:nvSpPr>
          <p:cNvPr id="5" name="Text 3"/>
          <p:cNvSpPr/>
          <p:nvPr/>
        </p:nvSpPr>
        <p:spPr>
          <a:xfrm>
            <a:off x="1085618" y="1619229"/>
            <a:ext cx="13735050" cy="2019374"/>
          </a:xfrm>
          <a:prstGeom prst="rect">
            <a:avLst/>
          </a:prstGeom>
          <a:noFill/>
          <a:ln/>
        </p:spPr>
        <p:txBody>
          <a:bodyPr wrap="square" lIns="25400" tIns="25400" rIns="25400" bIns="25400" rtlCol="0" anchor="t">
            <a:normAutofit/>
          </a:bodyPr>
          <a:lstStyle/>
          <a:p>
            <a:pPr algn="l" indent="0" marL="0">
              <a:lnSpc>
                <a:spcPct val="86566"/>
              </a:lnSpc>
              <a:buNone/>
            </a:pPr>
            <a:r>
              <a:rPr lang="en-US" sz="7800" b="1" spc="-156" kern="0" dirty="0">
                <a:solidFill>
                  <a:srgbClr val="201E1D"/>
                </a:solidFill>
                <a:latin typeface="Arial" pitchFamily="34" charset="0"/>
                <a:ea typeface="Arial" pitchFamily="34" charset="-122"/>
                <a:cs typeface="Arial" pitchFamily="34" charset="-120"/>
              </a:rPr>
              <a:t>Smart Employee ID Validator</a:t>
            </a:r>
            <a:endParaRPr lang="en-US" sz="7800" dirty="0"/>
          </a:p>
        </p:txBody>
      </p:sp>
      <p:sp>
        <p:nvSpPr>
          <p:cNvPr id="6" name="Text 4"/>
          <p:cNvSpPr/>
          <p:nvPr/>
        </p:nvSpPr>
        <p:spPr>
          <a:xfrm>
            <a:off x="1142979" y="3943325"/>
            <a:ext cx="13538749" cy="860995"/>
          </a:xfrm>
          <a:prstGeom prst="rect">
            <a:avLst/>
          </a:prstGeom>
          <a:noFill/>
          <a:ln/>
        </p:spPr>
        <p:txBody>
          <a:bodyPr wrap="square" lIns="25400" tIns="25400" rIns="25400" bIns="25400" rtlCol="0" anchor="t">
            <a:normAutofit/>
          </a:bodyPr>
          <a:lstStyle/>
          <a:p>
            <a:pPr algn="l" indent="0" marL="0">
              <a:lnSpc>
                <a:spcPct val="115200"/>
              </a:lnSpc>
              <a:buNone/>
            </a:pPr>
            <a:r>
              <a:rPr lang="en-US" sz="2400" dirty="0">
                <a:solidFill>
                  <a:srgbClr val="201F1D">
                    <a:alpha val="62000"/>
                  </a:srgbClr>
                </a:solidFill>
                <a:latin typeface="Arial" pitchFamily="34" charset="0"/>
                <a:ea typeface="Arial" pitchFamily="34" charset="-122"/>
                <a:cs typeface="Arial" pitchFamily="34" charset="-120"/>
              </a:rPr>
              <a:t>Algorithmic derivation, formal verification, and interactive simulation of an organization-defined automaton</a:t>
            </a:r>
            <a:endParaRPr lang="en-US" sz="2400" dirty="0"/>
          </a:p>
        </p:txBody>
      </p:sp>
      <p:sp>
        <p:nvSpPr>
          <p:cNvPr id="7" name="Shape 5"/>
          <p:cNvSpPr/>
          <p:nvPr/>
        </p:nvSpPr>
        <p:spPr>
          <a:xfrm>
            <a:off x="1142979" y="5299521"/>
            <a:ext cx="2666917" cy="13229"/>
          </a:xfrm>
          <a:prstGeom prst="rect">
            <a:avLst/>
          </a:prstGeom>
          <a:solidFill>
            <a:srgbClr val="201E1D"/>
          </a:solidFill>
          <a:ln/>
        </p:spPr>
      </p:sp>
      <p:sp>
        <p:nvSpPr>
          <p:cNvPr id="8" name="Text 6"/>
          <p:cNvSpPr/>
          <p:nvPr/>
        </p:nvSpPr>
        <p:spPr>
          <a:xfrm>
            <a:off x="1142979" y="5484109"/>
            <a:ext cx="268224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01</a:t>
            </a:r>
            <a:endParaRPr lang="en-US" sz="1800" dirty="0"/>
          </a:p>
        </p:txBody>
      </p:sp>
      <p:sp>
        <p:nvSpPr>
          <p:cNvPr id="9" name="Text 7"/>
          <p:cNvSpPr/>
          <p:nvPr/>
        </p:nvSpPr>
        <p:spPr>
          <a:xfrm>
            <a:off x="1142979" y="5914574"/>
            <a:ext cx="2682244"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Language</a:t>
            </a:r>
            <a:endParaRPr lang="en-US" sz="2550" dirty="0"/>
          </a:p>
        </p:txBody>
      </p:sp>
      <p:sp>
        <p:nvSpPr>
          <p:cNvPr id="10" name="Shape 8"/>
          <p:cNvSpPr/>
          <p:nvPr/>
        </p:nvSpPr>
        <p:spPr>
          <a:xfrm>
            <a:off x="3809897" y="5299521"/>
            <a:ext cx="2667021" cy="13229"/>
          </a:xfrm>
          <a:prstGeom prst="rect">
            <a:avLst/>
          </a:prstGeom>
          <a:solidFill>
            <a:srgbClr val="201E1D"/>
          </a:solidFill>
          <a:ln/>
        </p:spPr>
      </p:sp>
      <p:sp>
        <p:nvSpPr>
          <p:cNvPr id="11" name="Text 9"/>
          <p:cNvSpPr/>
          <p:nvPr/>
        </p:nvSpPr>
        <p:spPr>
          <a:xfrm>
            <a:off x="3809897" y="5484109"/>
            <a:ext cx="268235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3809897" y="5914574"/>
            <a:ext cx="2682358"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Regex</a:t>
            </a:r>
            <a:endParaRPr lang="en-US" sz="2550" dirty="0"/>
          </a:p>
        </p:txBody>
      </p:sp>
      <p:sp>
        <p:nvSpPr>
          <p:cNvPr id="13" name="Shape 11"/>
          <p:cNvSpPr/>
          <p:nvPr/>
        </p:nvSpPr>
        <p:spPr>
          <a:xfrm>
            <a:off x="6476917" y="5299521"/>
            <a:ext cx="2667021" cy="13229"/>
          </a:xfrm>
          <a:prstGeom prst="rect">
            <a:avLst/>
          </a:prstGeom>
          <a:solidFill>
            <a:srgbClr val="201E1D"/>
          </a:solidFill>
          <a:ln/>
        </p:spPr>
      </p:sp>
      <p:sp>
        <p:nvSpPr>
          <p:cNvPr id="14" name="Text 12"/>
          <p:cNvSpPr/>
          <p:nvPr/>
        </p:nvSpPr>
        <p:spPr>
          <a:xfrm>
            <a:off x="6476917" y="5484109"/>
            <a:ext cx="268235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03</a:t>
            </a:r>
            <a:endParaRPr lang="en-US" sz="1800" dirty="0"/>
          </a:p>
        </p:txBody>
      </p:sp>
      <p:sp>
        <p:nvSpPr>
          <p:cNvPr id="15" name="Text 13"/>
          <p:cNvSpPr/>
          <p:nvPr/>
        </p:nvSpPr>
        <p:spPr>
          <a:xfrm>
            <a:off x="6476917" y="5914574"/>
            <a:ext cx="2682358"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ε-NFA</a:t>
            </a:r>
            <a:endParaRPr lang="en-US" sz="2550" dirty="0"/>
          </a:p>
        </p:txBody>
      </p:sp>
      <p:sp>
        <p:nvSpPr>
          <p:cNvPr id="16" name="Shape 14"/>
          <p:cNvSpPr/>
          <p:nvPr/>
        </p:nvSpPr>
        <p:spPr>
          <a:xfrm>
            <a:off x="9143938" y="5299521"/>
            <a:ext cx="2667021" cy="13229"/>
          </a:xfrm>
          <a:prstGeom prst="rect">
            <a:avLst/>
          </a:prstGeom>
          <a:solidFill>
            <a:srgbClr val="201E1D"/>
          </a:solidFill>
          <a:ln/>
        </p:spPr>
      </p:sp>
      <p:sp>
        <p:nvSpPr>
          <p:cNvPr id="17" name="Text 15"/>
          <p:cNvSpPr/>
          <p:nvPr/>
        </p:nvSpPr>
        <p:spPr>
          <a:xfrm>
            <a:off x="9143938" y="5484109"/>
            <a:ext cx="268235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04</a:t>
            </a:r>
            <a:endParaRPr lang="en-US" sz="1800" dirty="0"/>
          </a:p>
        </p:txBody>
      </p:sp>
      <p:sp>
        <p:nvSpPr>
          <p:cNvPr id="18" name="Text 16"/>
          <p:cNvSpPr/>
          <p:nvPr/>
        </p:nvSpPr>
        <p:spPr>
          <a:xfrm>
            <a:off x="9143938" y="5914574"/>
            <a:ext cx="2682358"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DFA</a:t>
            </a:r>
            <a:endParaRPr lang="en-US" sz="2550" dirty="0"/>
          </a:p>
        </p:txBody>
      </p:sp>
      <p:sp>
        <p:nvSpPr>
          <p:cNvPr id="19" name="Shape 17"/>
          <p:cNvSpPr/>
          <p:nvPr/>
        </p:nvSpPr>
        <p:spPr>
          <a:xfrm>
            <a:off x="11810958" y="5299521"/>
            <a:ext cx="2667021" cy="13229"/>
          </a:xfrm>
          <a:prstGeom prst="rect">
            <a:avLst/>
          </a:prstGeom>
          <a:solidFill>
            <a:srgbClr val="201E1D"/>
          </a:solidFill>
          <a:ln/>
        </p:spPr>
      </p:sp>
      <p:sp>
        <p:nvSpPr>
          <p:cNvPr id="20" name="Text 18"/>
          <p:cNvSpPr/>
          <p:nvPr/>
        </p:nvSpPr>
        <p:spPr>
          <a:xfrm>
            <a:off x="11810958" y="5484109"/>
            <a:ext cx="268235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05</a:t>
            </a:r>
            <a:endParaRPr lang="en-US" sz="1800" dirty="0"/>
          </a:p>
        </p:txBody>
      </p:sp>
      <p:sp>
        <p:nvSpPr>
          <p:cNvPr id="21" name="Text 19"/>
          <p:cNvSpPr/>
          <p:nvPr/>
        </p:nvSpPr>
        <p:spPr>
          <a:xfrm>
            <a:off x="11810958" y="5914574"/>
            <a:ext cx="2682358"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Minimization</a:t>
            </a:r>
            <a:endParaRPr lang="en-US" sz="2550" dirty="0"/>
          </a:p>
        </p:txBody>
      </p:sp>
      <p:sp>
        <p:nvSpPr>
          <p:cNvPr id="22" name="Shape 20"/>
          <p:cNvSpPr/>
          <p:nvPr/>
        </p:nvSpPr>
        <p:spPr>
          <a:xfrm>
            <a:off x="14477979" y="5299521"/>
            <a:ext cx="2667021" cy="13229"/>
          </a:xfrm>
          <a:prstGeom prst="rect">
            <a:avLst/>
          </a:prstGeom>
          <a:solidFill>
            <a:srgbClr val="EC3013"/>
          </a:solidFill>
          <a:ln/>
        </p:spPr>
      </p:sp>
      <p:sp>
        <p:nvSpPr>
          <p:cNvPr id="23" name="Text 21"/>
          <p:cNvSpPr/>
          <p:nvPr/>
        </p:nvSpPr>
        <p:spPr>
          <a:xfrm>
            <a:off x="14477979" y="5484109"/>
            <a:ext cx="268235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06</a:t>
            </a:r>
            <a:endParaRPr lang="en-US" sz="1800" dirty="0"/>
          </a:p>
        </p:txBody>
      </p:sp>
      <p:sp>
        <p:nvSpPr>
          <p:cNvPr id="24" name="Text 22"/>
          <p:cNvSpPr/>
          <p:nvPr/>
        </p:nvSpPr>
        <p:spPr>
          <a:xfrm>
            <a:off x="14477979" y="5914574"/>
            <a:ext cx="2682358"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Simulator</a:t>
            </a:r>
            <a:endParaRPr lang="en-US" sz="2550" dirty="0"/>
          </a:p>
        </p:txBody>
      </p:sp>
      <p:sp>
        <p:nvSpPr>
          <p:cNvPr id="25" name="Shape 23"/>
          <p:cNvSpPr/>
          <p:nvPr/>
        </p:nvSpPr>
        <p:spPr>
          <a:xfrm>
            <a:off x="1142979" y="6912652"/>
            <a:ext cx="5029253" cy="13229"/>
          </a:xfrm>
          <a:prstGeom prst="rect">
            <a:avLst/>
          </a:prstGeom>
          <a:solidFill>
            <a:srgbClr val="201E1E">
              <a:alpha val="40000"/>
            </a:srgbClr>
          </a:solidFill>
          <a:ln/>
        </p:spPr>
      </p:sp>
      <p:sp>
        <p:nvSpPr>
          <p:cNvPr id="26" name="Text 24"/>
          <p:cNvSpPr/>
          <p:nvPr/>
        </p:nvSpPr>
        <p:spPr>
          <a:xfrm>
            <a:off x="1142979" y="7059207"/>
            <a:ext cx="5532179" cy="451408"/>
          </a:xfrm>
          <a:prstGeom prst="rect">
            <a:avLst/>
          </a:prstGeom>
          <a:noFill/>
          <a:ln/>
        </p:spPr>
        <p:txBody>
          <a:bodyPr wrap="square" lIns="25400" tIns="25400" rIns="25400" bIns="25400" rtlCol="0" anchor="t">
            <a:normAutofit/>
          </a:bodyPr>
          <a:lstStyle/>
          <a:p>
            <a:pPr algn="l" indent="0" marL="0">
              <a:lnSpc>
                <a:spcPct val="132970"/>
              </a:lnSpc>
              <a:buNone/>
            </a:pPr>
            <a:r>
              <a:rPr lang="en-US" sz="2100" b="1" dirty="0">
                <a:solidFill>
                  <a:srgbClr val="201E1D"/>
                </a:solidFill>
                <a:latin typeface="Arial" pitchFamily="34" charset="0"/>
                <a:ea typeface="Arial" pitchFamily="34" charset="-122"/>
                <a:cs typeface="Arial" pitchFamily="34" charset="-120"/>
              </a:rPr>
              <a:t>Anub, Mark Christian T.</a:t>
            </a:r>
            <a:endParaRPr lang="en-US" sz="2100" dirty="0"/>
          </a:p>
        </p:txBody>
      </p:sp>
      <p:sp>
        <p:nvSpPr>
          <p:cNvPr id="27" name="Text 25"/>
          <p:cNvSpPr/>
          <p:nvPr/>
        </p:nvSpPr>
        <p:spPr>
          <a:xfrm>
            <a:off x="1142979" y="7510549"/>
            <a:ext cx="553217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LANGUAGE ANALYST · DFA DESIGNER</a:t>
            </a:r>
            <a:endParaRPr lang="en-US" sz="1800" dirty="0"/>
          </a:p>
        </p:txBody>
      </p:sp>
      <p:sp>
        <p:nvSpPr>
          <p:cNvPr id="28" name="Shape 26"/>
          <p:cNvSpPr/>
          <p:nvPr/>
        </p:nvSpPr>
        <p:spPr>
          <a:xfrm>
            <a:off x="6629363" y="6912652"/>
            <a:ext cx="5029253" cy="13229"/>
          </a:xfrm>
          <a:prstGeom prst="rect">
            <a:avLst/>
          </a:prstGeom>
          <a:solidFill>
            <a:srgbClr val="201E1E">
              <a:alpha val="40000"/>
            </a:srgbClr>
          </a:solidFill>
          <a:ln/>
        </p:spPr>
      </p:sp>
      <p:sp>
        <p:nvSpPr>
          <p:cNvPr id="29" name="Text 27"/>
          <p:cNvSpPr/>
          <p:nvPr/>
        </p:nvSpPr>
        <p:spPr>
          <a:xfrm>
            <a:off x="6629363" y="7059207"/>
            <a:ext cx="5532179" cy="451408"/>
          </a:xfrm>
          <a:prstGeom prst="rect">
            <a:avLst/>
          </a:prstGeom>
          <a:noFill/>
          <a:ln/>
        </p:spPr>
        <p:txBody>
          <a:bodyPr wrap="square" lIns="25400" tIns="25400" rIns="25400" bIns="25400" rtlCol="0" anchor="t">
            <a:normAutofit/>
          </a:bodyPr>
          <a:lstStyle/>
          <a:p>
            <a:pPr algn="l" indent="0" marL="0">
              <a:lnSpc>
                <a:spcPct val="132970"/>
              </a:lnSpc>
              <a:buNone/>
            </a:pPr>
            <a:r>
              <a:rPr lang="en-US" sz="2100" b="1" dirty="0">
                <a:solidFill>
                  <a:srgbClr val="201E1D"/>
                </a:solidFill>
                <a:latin typeface="Arial" pitchFamily="34" charset="0"/>
                <a:ea typeface="Arial" pitchFamily="34" charset="-122"/>
                <a:cs typeface="Arial" pitchFamily="34" charset="-120"/>
              </a:rPr>
              <a:t>Ayson, Rey Noel C.</a:t>
            </a:r>
            <a:endParaRPr lang="en-US" sz="2100" dirty="0"/>
          </a:p>
        </p:txBody>
      </p:sp>
      <p:sp>
        <p:nvSpPr>
          <p:cNvPr id="30" name="Text 28"/>
          <p:cNvSpPr/>
          <p:nvPr/>
        </p:nvSpPr>
        <p:spPr>
          <a:xfrm>
            <a:off x="6629363" y="7510549"/>
            <a:ext cx="553217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DOCUMENTATION</a:t>
            </a:r>
            <a:endParaRPr lang="en-US" sz="1800" dirty="0"/>
          </a:p>
        </p:txBody>
      </p:sp>
      <p:sp>
        <p:nvSpPr>
          <p:cNvPr id="31" name="Shape 29"/>
          <p:cNvSpPr/>
          <p:nvPr/>
        </p:nvSpPr>
        <p:spPr>
          <a:xfrm>
            <a:off x="12115745" y="6912652"/>
            <a:ext cx="5029253" cy="13229"/>
          </a:xfrm>
          <a:prstGeom prst="rect">
            <a:avLst/>
          </a:prstGeom>
          <a:solidFill>
            <a:srgbClr val="201E1E">
              <a:alpha val="40000"/>
            </a:srgbClr>
          </a:solidFill>
          <a:ln/>
        </p:spPr>
      </p:sp>
      <p:sp>
        <p:nvSpPr>
          <p:cNvPr id="32" name="Text 30"/>
          <p:cNvSpPr/>
          <p:nvPr/>
        </p:nvSpPr>
        <p:spPr>
          <a:xfrm>
            <a:off x="12115745" y="7059207"/>
            <a:ext cx="5532179" cy="451408"/>
          </a:xfrm>
          <a:prstGeom prst="rect">
            <a:avLst/>
          </a:prstGeom>
          <a:noFill/>
          <a:ln/>
        </p:spPr>
        <p:txBody>
          <a:bodyPr wrap="square" lIns="25400" tIns="25400" rIns="25400" bIns="25400" rtlCol="0" anchor="t">
            <a:normAutofit/>
          </a:bodyPr>
          <a:lstStyle/>
          <a:p>
            <a:pPr algn="l" indent="0" marL="0">
              <a:lnSpc>
                <a:spcPct val="132970"/>
              </a:lnSpc>
              <a:buNone/>
            </a:pPr>
            <a:r>
              <a:rPr lang="en-US" sz="2100" b="1" dirty="0">
                <a:solidFill>
                  <a:srgbClr val="201E1D"/>
                </a:solidFill>
                <a:latin typeface="Arial" pitchFamily="34" charset="0"/>
                <a:ea typeface="Arial" pitchFamily="34" charset="-122"/>
                <a:cs typeface="Arial" pitchFamily="34" charset="-120"/>
              </a:rPr>
              <a:t>Dotosme, James Paul B.</a:t>
            </a:r>
            <a:endParaRPr lang="en-US" sz="2100" dirty="0"/>
          </a:p>
        </p:txBody>
      </p:sp>
      <p:sp>
        <p:nvSpPr>
          <p:cNvPr id="33" name="Text 31"/>
          <p:cNvSpPr/>
          <p:nvPr/>
        </p:nvSpPr>
        <p:spPr>
          <a:xfrm>
            <a:off x="12115745" y="7510549"/>
            <a:ext cx="553217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PRESENTATION LEAD</a:t>
            </a:r>
            <a:endParaRPr lang="en-US" sz="1800" dirty="0"/>
          </a:p>
        </p:txBody>
      </p:sp>
      <p:sp>
        <p:nvSpPr>
          <p:cNvPr id="34" name="Shape 32"/>
          <p:cNvSpPr/>
          <p:nvPr/>
        </p:nvSpPr>
        <p:spPr>
          <a:xfrm>
            <a:off x="1142979" y="8131493"/>
            <a:ext cx="5029253" cy="13229"/>
          </a:xfrm>
          <a:prstGeom prst="rect">
            <a:avLst/>
          </a:prstGeom>
          <a:solidFill>
            <a:srgbClr val="201E1E">
              <a:alpha val="40000"/>
            </a:srgbClr>
          </a:solidFill>
          <a:ln/>
        </p:spPr>
      </p:sp>
      <p:sp>
        <p:nvSpPr>
          <p:cNvPr id="35" name="Text 33"/>
          <p:cNvSpPr/>
          <p:nvPr/>
        </p:nvSpPr>
        <p:spPr>
          <a:xfrm>
            <a:off x="1142979" y="8278048"/>
            <a:ext cx="5532179" cy="451408"/>
          </a:xfrm>
          <a:prstGeom prst="rect">
            <a:avLst/>
          </a:prstGeom>
          <a:noFill/>
          <a:ln/>
        </p:spPr>
        <p:txBody>
          <a:bodyPr wrap="square" lIns="25400" tIns="25400" rIns="25400" bIns="25400" rtlCol="0" anchor="t">
            <a:normAutofit/>
          </a:bodyPr>
          <a:lstStyle/>
          <a:p>
            <a:pPr algn="l" indent="0" marL="0">
              <a:lnSpc>
                <a:spcPct val="132970"/>
              </a:lnSpc>
              <a:buNone/>
            </a:pPr>
            <a:r>
              <a:rPr lang="en-US" sz="2100" b="1" dirty="0">
                <a:solidFill>
                  <a:srgbClr val="201E1D"/>
                </a:solidFill>
                <a:latin typeface="Arial" pitchFamily="34" charset="0"/>
                <a:ea typeface="Arial" pitchFamily="34" charset="-122"/>
                <a:cs typeface="Arial" pitchFamily="34" charset="-120"/>
              </a:rPr>
              <a:t>Lauzon, Chester Josh C.</a:t>
            </a:r>
            <a:endParaRPr lang="en-US" sz="2100" dirty="0"/>
          </a:p>
        </p:txBody>
      </p:sp>
      <p:sp>
        <p:nvSpPr>
          <p:cNvPr id="36" name="Text 34"/>
          <p:cNvSpPr/>
          <p:nvPr/>
        </p:nvSpPr>
        <p:spPr>
          <a:xfrm>
            <a:off x="1142979" y="8729389"/>
            <a:ext cx="553217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PROGRAMMER · AUTOMATA OPTIMIZER</a:t>
            </a:r>
            <a:endParaRPr lang="en-US" sz="1800" dirty="0"/>
          </a:p>
        </p:txBody>
      </p:sp>
      <p:sp>
        <p:nvSpPr>
          <p:cNvPr id="37" name="Shape 35"/>
          <p:cNvSpPr/>
          <p:nvPr/>
        </p:nvSpPr>
        <p:spPr>
          <a:xfrm>
            <a:off x="6629363" y="8131493"/>
            <a:ext cx="5029253" cy="13229"/>
          </a:xfrm>
          <a:prstGeom prst="rect">
            <a:avLst/>
          </a:prstGeom>
          <a:solidFill>
            <a:srgbClr val="201E1E">
              <a:alpha val="40000"/>
            </a:srgbClr>
          </a:solidFill>
          <a:ln/>
        </p:spPr>
      </p:sp>
      <p:sp>
        <p:nvSpPr>
          <p:cNvPr id="38" name="Text 36"/>
          <p:cNvSpPr/>
          <p:nvPr/>
        </p:nvSpPr>
        <p:spPr>
          <a:xfrm>
            <a:off x="6629363" y="8278048"/>
            <a:ext cx="5532179" cy="451408"/>
          </a:xfrm>
          <a:prstGeom prst="rect">
            <a:avLst/>
          </a:prstGeom>
          <a:noFill/>
          <a:ln/>
        </p:spPr>
        <p:txBody>
          <a:bodyPr wrap="square" lIns="25400" tIns="25400" rIns="25400" bIns="25400" rtlCol="0" anchor="t">
            <a:normAutofit/>
          </a:bodyPr>
          <a:lstStyle/>
          <a:p>
            <a:pPr algn="l" indent="0" marL="0">
              <a:lnSpc>
                <a:spcPct val="132970"/>
              </a:lnSpc>
              <a:buNone/>
            </a:pPr>
            <a:r>
              <a:rPr lang="en-US" sz="2100" b="1" dirty="0">
                <a:solidFill>
                  <a:srgbClr val="201E1D"/>
                </a:solidFill>
                <a:latin typeface="Arial" pitchFamily="34" charset="0"/>
                <a:ea typeface="Arial" pitchFamily="34" charset="-122"/>
                <a:cs typeface="Arial" pitchFamily="34" charset="-120"/>
              </a:rPr>
              <a:t>Perito, Isiah Thomas A.</a:t>
            </a:r>
            <a:endParaRPr lang="en-US" sz="2100" dirty="0"/>
          </a:p>
        </p:txBody>
      </p:sp>
      <p:sp>
        <p:nvSpPr>
          <p:cNvPr id="39" name="Text 37"/>
          <p:cNvSpPr/>
          <p:nvPr/>
        </p:nvSpPr>
        <p:spPr>
          <a:xfrm>
            <a:off x="6629363" y="8729389"/>
            <a:ext cx="553217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TESTER · QA</a:t>
            </a:r>
            <a:endParaRPr lang="en-US" sz="1800" dirty="0"/>
          </a:p>
        </p:txBody>
      </p:sp>
      <p:sp>
        <p:nvSpPr>
          <p:cNvPr id="40" name="Shape 38"/>
          <p:cNvSpPr/>
          <p:nvPr/>
        </p:nvSpPr>
        <p:spPr>
          <a:xfrm>
            <a:off x="12115745" y="8131493"/>
            <a:ext cx="5029253" cy="13229"/>
          </a:xfrm>
          <a:prstGeom prst="rect">
            <a:avLst/>
          </a:prstGeom>
          <a:solidFill>
            <a:srgbClr val="201E1E">
              <a:alpha val="40000"/>
            </a:srgbClr>
          </a:solidFill>
          <a:ln/>
        </p:spPr>
      </p:sp>
      <p:sp>
        <p:nvSpPr>
          <p:cNvPr id="41" name="Text 39"/>
          <p:cNvSpPr/>
          <p:nvPr/>
        </p:nvSpPr>
        <p:spPr>
          <a:xfrm>
            <a:off x="12115745" y="8278048"/>
            <a:ext cx="5532179" cy="451408"/>
          </a:xfrm>
          <a:prstGeom prst="rect">
            <a:avLst/>
          </a:prstGeom>
          <a:noFill/>
          <a:ln/>
        </p:spPr>
        <p:txBody>
          <a:bodyPr wrap="square" lIns="25400" tIns="25400" rIns="25400" bIns="25400" rtlCol="0" anchor="t">
            <a:normAutofit/>
          </a:bodyPr>
          <a:lstStyle/>
          <a:p>
            <a:pPr algn="l" indent="0" marL="0">
              <a:lnSpc>
                <a:spcPct val="132970"/>
              </a:lnSpc>
              <a:buNone/>
            </a:pPr>
            <a:r>
              <a:rPr lang="en-US" sz="2100" b="1" dirty="0">
                <a:solidFill>
                  <a:srgbClr val="201E1D"/>
                </a:solidFill>
                <a:latin typeface="Arial" pitchFamily="34" charset="0"/>
                <a:ea typeface="Arial" pitchFamily="34" charset="-122"/>
                <a:cs typeface="Arial" pitchFamily="34" charset="-120"/>
              </a:rPr>
              <a:t>Talingting, Ken Ira L.</a:t>
            </a:r>
            <a:endParaRPr lang="en-US" sz="2100" dirty="0"/>
          </a:p>
        </p:txBody>
      </p:sp>
      <p:sp>
        <p:nvSpPr>
          <p:cNvPr id="42" name="Text 40"/>
          <p:cNvSpPr/>
          <p:nvPr/>
        </p:nvSpPr>
        <p:spPr>
          <a:xfrm>
            <a:off x="12115745" y="8729389"/>
            <a:ext cx="553217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PROJECT LEADER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365757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02 · PROBLEM DEFINITION</a:t>
            </a:r>
            <a:endParaRPr lang="en-US" sz="1800" dirty="0"/>
          </a:p>
        </p:txBody>
      </p:sp>
      <p:sp>
        <p:nvSpPr>
          <p:cNvPr id="4" name="Text 2"/>
          <p:cNvSpPr/>
          <p:nvPr/>
        </p:nvSpPr>
        <p:spPr>
          <a:xfrm>
            <a:off x="13410137" y="495267"/>
            <a:ext cx="410834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ANUB — LANGUAGE ANALYST</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The Employee ID Language</a:t>
            </a:r>
            <a:endParaRPr lang="en-US" sz="4800" dirty="0"/>
          </a:p>
        </p:txBody>
      </p:sp>
      <p:sp>
        <p:nvSpPr>
          <p:cNvPr id="6" name="Shape 4"/>
          <p:cNvSpPr/>
          <p:nvPr/>
        </p:nvSpPr>
        <p:spPr>
          <a:xfrm>
            <a:off x="1142979" y="2895534"/>
            <a:ext cx="990534" cy="990534"/>
          </a:xfrm>
          <a:prstGeom prst="rect">
            <a:avLst/>
          </a:prstGeom>
          <a:ln w="13229">
            <a:solidFill>
              <a:srgbClr val="201E1D"/>
            </a:solidFill>
            <a:prstDash val="solid"/>
          </a:ln>
        </p:spPr>
      </p:sp>
      <p:sp>
        <p:nvSpPr>
          <p:cNvPr id="7" name="Text 5"/>
          <p:cNvSpPr/>
          <p:nvPr/>
        </p:nvSpPr>
        <p:spPr>
          <a:xfrm>
            <a:off x="1118108"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E</a:t>
            </a:r>
            <a:endParaRPr lang="en-US" sz="3900" dirty="0"/>
          </a:p>
        </p:txBody>
      </p:sp>
      <p:sp>
        <p:nvSpPr>
          <p:cNvPr id="8" name="Shape 6"/>
          <p:cNvSpPr/>
          <p:nvPr/>
        </p:nvSpPr>
        <p:spPr>
          <a:xfrm>
            <a:off x="2247718" y="2895534"/>
            <a:ext cx="990534" cy="990534"/>
          </a:xfrm>
          <a:prstGeom prst="rect">
            <a:avLst/>
          </a:prstGeom>
          <a:ln w="13229">
            <a:solidFill>
              <a:srgbClr val="201E1D"/>
            </a:solidFill>
            <a:prstDash val="solid"/>
          </a:ln>
        </p:spPr>
      </p:sp>
      <p:sp>
        <p:nvSpPr>
          <p:cNvPr id="9" name="Text 7"/>
          <p:cNvSpPr/>
          <p:nvPr/>
        </p:nvSpPr>
        <p:spPr>
          <a:xfrm>
            <a:off x="2222847"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M</a:t>
            </a:r>
            <a:endParaRPr lang="en-US" sz="3900" dirty="0"/>
          </a:p>
        </p:txBody>
      </p:sp>
      <p:sp>
        <p:nvSpPr>
          <p:cNvPr id="10" name="Shape 8"/>
          <p:cNvSpPr/>
          <p:nvPr/>
        </p:nvSpPr>
        <p:spPr>
          <a:xfrm>
            <a:off x="3352457" y="2895534"/>
            <a:ext cx="990534" cy="990534"/>
          </a:xfrm>
          <a:prstGeom prst="rect">
            <a:avLst/>
          </a:prstGeom>
          <a:ln w="13229">
            <a:solidFill>
              <a:srgbClr val="201E1D"/>
            </a:solidFill>
            <a:prstDash val="solid"/>
          </a:ln>
        </p:spPr>
      </p:sp>
      <p:sp>
        <p:nvSpPr>
          <p:cNvPr id="11" name="Text 9"/>
          <p:cNvSpPr/>
          <p:nvPr/>
        </p:nvSpPr>
        <p:spPr>
          <a:xfrm>
            <a:off x="3327586"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P</a:t>
            </a:r>
            <a:endParaRPr lang="en-US" sz="3900" dirty="0"/>
          </a:p>
        </p:txBody>
      </p:sp>
      <p:sp>
        <p:nvSpPr>
          <p:cNvPr id="12" name="Shape 10"/>
          <p:cNvSpPr/>
          <p:nvPr/>
        </p:nvSpPr>
        <p:spPr>
          <a:xfrm>
            <a:off x="4457195" y="2895534"/>
            <a:ext cx="990534" cy="990534"/>
          </a:xfrm>
          <a:prstGeom prst="rect">
            <a:avLst/>
          </a:prstGeom>
          <a:ln w="13229">
            <a:solidFill>
              <a:srgbClr val="EC3013"/>
            </a:solidFill>
            <a:prstDash val="solid"/>
          </a:ln>
        </p:spPr>
      </p:sp>
      <p:sp>
        <p:nvSpPr>
          <p:cNvPr id="13" name="Text 11"/>
          <p:cNvSpPr/>
          <p:nvPr/>
        </p:nvSpPr>
        <p:spPr>
          <a:xfrm>
            <a:off x="4432325"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AE1800"/>
                </a:solidFill>
                <a:latin typeface="Arial" pitchFamily="34" charset="0"/>
                <a:ea typeface="Arial" pitchFamily="34" charset="-122"/>
                <a:cs typeface="Arial" pitchFamily="34" charset="-120"/>
              </a:rPr>
              <a:t>-</a:t>
            </a:r>
            <a:endParaRPr lang="en-US" sz="3900" dirty="0"/>
          </a:p>
        </p:txBody>
      </p:sp>
      <p:sp>
        <p:nvSpPr>
          <p:cNvPr id="14" name="Shape 12"/>
          <p:cNvSpPr/>
          <p:nvPr/>
        </p:nvSpPr>
        <p:spPr>
          <a:xfrm>
            <a:off x="5561934" y="2895534"/>
            <a:ext cx="990534" cy="990534"/>
          </a:xfrm>
          <a:prstGeom prst="rect">
            <a:avLst/>
          </a:prstGeom>
          <a:ln w="13229">
            <a:solidFill>
              <a:srgbClr val="201E1D"/>
            </a:solidFill>
            <a:prstDash val="solid"/>
          </a:ln>
        </p:spPr>
      </p:sp>
      <p:sp>
        <p:nvSpPr>
          <p:cNvPr id="15" name="Text 13"/>
          <p:cNvSpPr/>
          <p:nvPr/>
        </p:nvSpPr>
        <p:spPr>
          <a:xfrm>
            <a:off x="5537064"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2</a:t>
            </a:r>
            <a:endParaRPr lang="en-US" sz="3900" dirty="0"/>
          </a:p>
        </p:txBody>
      </p:sp>
      <p:sp>
        <p:nvSpPr>
          <p:cNvPr id="16" name="Shape 14"/>
          <p:cNvSpPr/>
          <p:nvPr/>
        </p:nvSpPr>
        <p:spPr>
          <a:xfrm>
            <a:off x="6666673" y="2895534"/>
            <a:ext cx="990534" cy="990534"/>
          </a:xfrm>
          <a:prstGeom prst="rect">
            <a:avLst/>
          </a:prstGeom>
          <a:ln w="13229">
            <a:solidFill>
              <a:srgbClr val="201E1D"/>
            </a:solidFill>
            <a:prstDash val="solid"/>
          </a:ln>
        </p:spPr>
      </p:sp>
      <p:sp>
        <p:nvSpPr>
          <p:cNvPr id="17" name="Text 15"/>
          <p:cNvSpPr/>
          <p:nvPr/>
        </p:nvSpPr>
        <p:spPr>
          <a:xfrm>
            <a:off x="6641802"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0</a:t>
            </a:r>
            <a:endParaRPr lang="en-US" sz="3900" dirty="0"/>
          </a:p>
        </p:txBody>
      </p:sp>
      <p:sp>
        <p:nvSpPr>
          <p:cNvPr id="18" name="Shape 16"/>
          <p:cNvSpPr/>
          <p:nvPr/>
        </p:nvSpPr>
        <p:spPr>
          <a:xfrm>
            <a:off x="7771412" y="2895534"/>
            <a:ext cx="990534" cy="990534"/>
          </a:xfrm>
          <a:prstGeom prst="rect">
            <a:avLst/>
          </a:prstGeom>
          <a:ln w="13229">
            <a:solidFill>
              <a:srgbClr val="201E1D"/>
            </a:solidFill>
            <a:prstDash val="solid"/>
          </a:ln>
        </p:spPr>
      </p:sp>
      <p:sp>
        <p:nvSpPr>
          <p:cNvPr id="19" name="Text 17"/>
          <p:cNvSpPr/>
          <p:nvPr/>
        </p:nvSpPr>
        <p:spPr>
          <a:xfrm>
            <a:off x="7746541"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2</a:t>
            </a:r>
            <a:endParaRPr lang="en-US" sz="3900" dirty="0"/>
          </a:p>
        </p:txBody>
      </p:sp>
      <p:sp>
        <p:nvSpPr>
          <p:cNvPr id="20" name="Shape 18"/>
          <p:cNvSpPr/>
          <p:nvPr/>
        </p:nvSpPr>
        <p:spPr>
          <a:xfrm>
            <a:off x="8876151" y="2895534"/>
            <a:ext cx="990534" cy="990534"/>
          </a:xfrm>
          <a:prstGeom prst="rect">
            <a:avLst/>
          </a:prstGeom>
          <a:ln w="13229">
            <a:solidFill>
              <a:srgbClr val="201E1D"/>
            </a:solidFill>
            <a:prstDash val="solid"/>
          </a:ln>
        </p:spPr>
      </p:sp>
      <p:sp>
        <p:nvSpPr>
          <p:cNvPr id="21" name="Text 19"/>
          <p:cNvSpPr/>
          <p:nvPr/>
        </p:nvSpPr>
        <p:spPr>
          <a:xfrm>
            <a:off x="8851280"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6</a:t>
            </a:r>
            <a:endParaRPr lang="en-US" sz="3900" dirty="0"/>
          </a:p>
        </p:txBody>
      </p:sp>
      <p:sp>
        <p:nvSpPr>
          <p:cNvPr id="22" name="Shape 20"/>
          <p:cNvSpPr/>
          <p:nvPr/>
        </p:nvSpPr>
        <p:spPr>
          <a:xfrm>
            <a:off x="9980890" y="2895534"/>
            <a:ext cx="990534" cy="990534"/>
          </a:xfrm>
          <a:prstGeom prst="rect">
            <a:avLst/>
          </a:prstGeom>
          <a:ln w="13229">
            <a:solidFill>
              <a:srgbClr val="EC3013"/>
            </a:solidFill>
            <a:prstDash val="solid"/>
          </a:ln>
        </p:spPr>
      </p:sp>
      <p:sp>
        <p:nvSpPr>
          <p:cNvPr id="23" name="Text 21"/>
          <p:cNvSpPr/>
          <p:nvPr/>
        </p:nvSpPr>
        <p:spPr>
          <a:xfrm>
            <a:off x="9956019"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AE1800"/>
                </a:solidFill>
                <a:latin typeface="Arial" pitchFamily="34" charset="0"/>
                <a:ea typeface="Arial" pitchFamily="34" charset="-122"/>
                <a:cs typeface="Arial" pitchFamily="34" charset="-120"/>
              </a:rPr>
              <a:t>-</a:t>
            </a:r>
            <a:endParaRPr lang="en-US" sz="3900" dirty="0"/>
          </a:p>
        </p:txBody>
      </p:sp>
      <p:sp>
        <p:nvSpPr>
          <p:cNvPr id="24" name="Shape 22"/>
          <p:cNvSpPr/>
          <p:nvPr/>
        </p:nvSpPr>
        <p:spPr>
          <a:xfrm>
            <a:off x="11085628" y="2895534"/>
            <a:ext cx="990534" cy="990534"/>
          </a:xfrm>
          <a:prstGeom prst="rect">
            <a:avLst/>
          </a:prstGeom>
          <a:ln w="13229">
            <a:solidFill>
              <a:srgbClr val="201E1D"/>
            </a:solidFill>
            <a:prstDash val="solid"/>
          </a:ln>
        </p:spPr>
      </p:sp>
      <p:sp>
        <p:nvSpPr>
          <p:cNvPr id="25" name="Text 23"/>
          <p:cNvSpPr/>
          <p:nvPr/>
        </p:nvSpPr>
        <p:spPr>
          <a:xfrm>
            <a:off x="11060757"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0</a:t>
            </a:r>
            <a:endParaRPr lang="en-US" sz="3900" dirty="0"/>
          </a:p>
        </p:txBody>
      </p:sp>
      <p:sp>
        <p:nvSpPr>
          <p:cNvPr id="26" name="Shape 24"/>
          <p:cNvSpPr/>
          <p:nvPr/>
        </p:nvSpPr>
        <p:spPr>
          <a:xfrm>
            <a:off x="12190366" y="2895534"/>
            <a:ext cx="990534" cy="990534"/>
          </a:xfrm>
          <a:prstGeom prst="rect">
            <a:avLst/>
          </a:prstGeom>
          <a:ln w="13229">
            <a:solidFill>
              <a:srgbClr val="201E1D"/>
            </a:solidFill>
            <a:prstDash val="solid"/>
          </a:ln>
        </p:spPr>
      </p:sp>
      <p:sp>
        <p:nvSpPr>
          <p:cNvPr id="27" name="Text 25"/>
          <p:cNvSpPr/>
          <p:nvPr/>
        </p:nvSpPr>
        <p:spPr>
          <a:xfrm>
            <a:off x="12165496"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0</a:t>
            </a:r>
            <a:endParaRPr lang="en-US" sz="3900" dirty="0"/>
          </a:p>
        </p:txBody>
      </p:sp>
      <p:sp>
        <p:nvSpPr>
          <p:cNvPr id="28" name="Shape 26"/>
          <p:cNvSpPr/>
          <p:nvPr/>
        </p:nvSpPr>
        <p:spPr>
          <a:xfrm>
            <a:off x="13295105" y="2895534"/>
            <a:ext cx="990534" cy="990534"/>
          </a:xfrm>
          <a:prstGeom prst="rect">
            <a:avLst/>
          </a:prstGeom>
          <a:ln w="13229">
            <a:solidFill>
              <a:srgbClr val="201E1D"/>
            </a:solidFill>
            <a:prstDash val="solid"/>
          </a:ln>
        </p:spPr>
      </p:sp>
      <p:sp>
        <p:nvSpPr>
          <p:cNvPr id="29" name="Text 27"/>
          <p:cNvSpPr/>
          <p:nvPr/>
        </p:nvSpPr>
        <p:spPr>
          <a:xfrm>
            <a:off x="13270234"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4</a:t>
            </a:r>
            <a:endParaRPr lang="en-US" sz="3900" dirty="0"/>
          </a:p>
        </p:txBody>
      </p:sp>
      <p:sp>
        <p:nvSpPr>
          <p:cNvPr id="30" name="Shape 28"/>
          <p:cNvSpPr/>
          <p:nvPr/>
        </p:nvSpPr>
        <p:spPr>
          <a:xfrm>
            <a:off x="14399844" y="2895534"/>
            <a:ext cx="990534" cy="990534"/>
          </a:xfrm>
          <a:prstGeom prst="rect">
            <a:avLst/>
          </a:prstGeom>
          <a:ln w="13229">
            <a:solidFill>
              <a:srgbClr val="201E1D"/>
            </a:solidFill>
            <a:prstDash val="solid"/>
          </a:ln>
        </p:spPr>
      </p:sp>
      <p:sp>
        <p:nvSpPr>
          <p:cNvPr id="31" name="Text 29"/>
          <p:cNvSpPr/>
          <p:nvPr/>
        </p:nvSpPr>
        <p:spPr>
          <a:xfrm>
            <a:off x="14374973" y="2908763"/>
            <a:ext cx="1040275" cy="1002175"/>
          </a:xfrm>
          <a:prstGeom prst="rect">
            <a:avLst/>
          </a:prstGeom>
          <a:noFill/>
          <a:ln/>
        </p:spPr>
        <p:txBody>
          <a:bodyPr wrap="square" lIns="25400" tIns="25400" rIns="25400" bIns="25400" rtlCol="0" anchor="ctr">
            <a:normAutofit/>
          </a:bodyPr>
          <a:lstStyle/>
          <a:p>
            <a:pPr algn="ctr" indent="0" marL="0">
              <a:lnSpc>
                <a:spcPct val="134958"/>
              </a:lnSpc>
              <a:buNone/>
            </a:pPr>
            <a:r>
              <a:rPr lang="en-US" sz="3900" b="1" dirty="0">
                <a:solidFill>
                  <a:srgbClr val="201E1D"/>
                </a:solidFill>
                <a:latin typeface="Arial" pitchFamily="34" charset="0"/>
                <a:ea typeface="Arial" pitchFamily="34" charset="-122"/>
                <a:cs typeface="Arial" pitchFamily="34" charset="-120"/>
              </a:rPr>
              <a:t>2</a:t>
            </a:r>
            <a:endParaRPr lang="en-US" sz="3900" dirty="0"/>
          </a:p>
        </p:txBody>
      </p:sp>
      <p:sp>
        <p:nvSpPr>
          <p:cNvPr id="32" name="Text 30"/>
          <p:cNvSpPr/>
          <p:nvPr/>
        </p:nvSpPr>
        <p:spPr>
          <a:xfrm>
            <a:off x="1142979" y="4000272"/>
            <a:ext cx="352001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PREFIX EMP</a:t>
            </a:r>
            <a:endParaRPr lang="en-US" sz="1800" dirty="0"/>
          </a:p>
        </p:txBody>
      </p:sp>
      <p:sp>
        <p:nvSpPr>
          <p:cNvPr id="33" name="Text 31"/>
          <p:cNvSpPr/>
          <p:nvPr/>
        </p:nvSpPr>
        <p:spPr>
          <a:xfrm>
            <a:off x="4457195" y="4000272"/>
            <a:ext cx="106673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SEP</a:t>
            </a:r>
            <a:endParaRPr lang="en-US" sz="1800" dirty="0"/>
          </a:p>
        </p:txBody>
      </p:sp>
      <p:sp>
        <p:nvSpPr>
          <p:cNvPr id="34" name="Text 32"/>
          <p:cNvSpPr/>
          <p:nvPr/>
        </p:nvSpPr>
        <p:spPr>
          <a:xfrm>
            <a:off x="5561934" y="4000272"/>
            <a:ext cx="473522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YEAR YYYY</a:t>
            </a:r>
            <a:endParaRPr lang="en-US" sz="1800" dirty="0"/>
          </a:p>
        </p:txBody>
      </p:sp>
      <p:sp>
        <p:nvSpPr>
          <p:cNvPr id="35" name="Text 33"/>
          <p:cNvSpPr/>
          <p:nvPr/>
        </p:nvSpPr>
        <p:spPr>
          <a:xfrm>
            <a:off x="9980890" y="4000272"/>
            <a:ext cx="106673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SEP</a:t>
            </a:r>
            <a:endParaRPr lang="en-US" sz="1800" dirty="0"/>
          </a:p>
        </p:txBody>
      </p:sp>
      <p:sp>
        <p:nvSpPr>
          <p:cNvPr id="36" name="Text 34"/>
          <p:cNvSpPr/>
          <p:nvPr/>
        </p:nvSpPr>
        <p:spPr>
          <a:xfrm>
            <a:off x="11085628" y="4000272"/>
            <a:ext cx="473522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NUMBER NNNN</a:t>
            </a:r>
            <a:endParaRPr lang="en-US" sz="1800" dirty="0"/>
          </a:p>
        </p:txBody>
      </p:sp>
      <p:sp>
        <p:nvSpPr>
          <p:cNvPr id="37" name="Shape 35"/>
          <p:cNvSpPr/>
          <p:nvPr/>
        </p:nvSpPr>
        <p:spPr>
          <a:xfrm>
            <a:off x="1142979" y="5040312"/>
            <a:ext cx="7543828" cy="13229"/>
          </a:xfrm>
          <a:prstGeom prst="rect">
            <a:avLst/>
          </a:prstGeom>
          <a:solidFill>
            <a:srgbClr val="201E1E">
              <a:alpha val="40000"/>
            </a:srgbClr>
          </a:solidFill>
          <a:ln/>
        </p:spPr>
      </p:sp>
      <p:sp>
        <p:nvSpPr>
          <p:cNvPr id="38" name="Text 36"/>
          <p:cNvSpPr/>
          <p:nvPr/>
        </p:nvSpPr>
        <p:spPr>
          <a:xfrm>
            <a:off x="1142979" y="5224900"/>
            <a:ext cx="829821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ALPHABET</a:t>
            </a:r>
            <a:endParaRPr lang="en-US" sz="1800" dirty="0"/>
          </a:p>
        </p:txBody>
      </p:sp>
      <p:sp>
        <p:nvSpPr>
          <p:cNvPr id="39" name="Text 37"/>
          <p:cNvSpPr/>
          <p:nvPr/>
        </p:nvSpPr>
        <p:spPr>
          <a:xfrm>
            <a:off x="1142979" y="5769673"/>
            <a:ext cx="8298211" cy="628555"/>
          </a:xfrm>
          <a:prstGeom prst="rect">
            <a:avLst/>
          </a:prstGeom>
          <a:noFill/>
          <a:ln/>
        </p:spPr>
        <p:txBody>
          <a:bodyPr wrap="square" lIns="25400" tIns="25400" rIns="25400" bIns="25400" rtlCol="0" anchor="t">
            <a:normAutofit/>
          </a:bodyPr>
          <a:lstStyle/>
          <a:p>
            <a:pPr algn="l" indent="0" marL="0">
              <a:lnSpc>
                <a:spcPct val="135273"/>
              </a:lnSpc>
              <a:buNone/>
            </a:pPr>
            <a:r>
              <a:rPr lang="en-US" sz="3000" spc="30" kern="0" dirty="0">
                <a:solidFill>
                  <a:srgbClr val="201E1D"/>
                </a:solidFill>
                <a:latin typeface="Arial" pitchFamily="34" charset="0"/>
                <a:ea typeface="Arial" pitchFamily="34" charset="-122"/>
                <a:cs typeface="Arial" pitchFamily="34" charset="-120"/>
              </a:rPr>
              <a:t>Σ = { E, M, P, -, 0, 1, …, 9 }</a:t>
            </a:r>
            <a:endParaRPr lang="en-US" sz="3000" dirty="0"/>
          </a:p>
        </p:txBody>
      </p:sp>
      <p:sp>
        <p:nvSpPr>
          <p:cNvPr id="40" name="Shape 38"/>
          <p:cNvSpPr/>
          <p:nvPr/>
        </p:nvSpPr>
        <p:spPr>
          <a:xfrm>
            <a:off x="1142979" y="6741087"/>
            <a:ext cx="7543828" cy="13229"/>
          </a:xfrm>
          <a:prstGeom prst="rect">
            <a:avLst/>
          </a:prstGeom>
          <a:solidFill>
            <a:srgbClr val="201E1E">
              <a:alpha val="40000"/>
            </a:srgbClr>
          </a:solidFill>
          <a:ln/>
        </p:spPr>
      </p:sp>
      <p:sp>
        <p:nvSpPr>
          <p:cNvPr id="41" name="Text 39"/>
          <p:cNvSpPr/>
          <p:nvPr/>
        </p:nvSpPr>
        <p:spPr>
          <a:xfrm>
            <a:off x="1142979" y="6925675"/>
            <a:ext cx="829821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LANGUAGE</a:t>
            </a:r>
            <a:endParaRPr lang="en-US" sz="1800" dirty="0"/>
          </a:p>
        </p:txBody>
      </p:sp>
      <p:sp>
        <p:nvSpPr>
          <p:cNvPr id="42" name="Text 40"/>
          <p:cNvSpPr/>
          <p:nvPr/>
        </p:nvSpPr>
        <p:spPr>
          <a:xfrm>
            <a:off x="1142979" y="7470448"/>
            <a:ext cx="7770143" cy="940784"/>
          </a:xfrm>
          <a:prstGeom prst="rect">
            <a:avLst/>
          </a:prstGeom>
          <a:noFill/>
          <a:ln/>
        </p:spPr>
        <p:txBody>
          <a:bodyPr wrap="square" lIns="25400" tIns="25400" rIns="25400" bIns="25400" rtlCol="0" anchor="t">
            <a:normAutofit/>
          </a:bodyPr>
          <a:lstStyle/>
          <a:p>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L = { w ∈ Σ* | w = EMP-d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1</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2</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3</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4</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5</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6</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7</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8</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 d</a:t>
            </a:r>
            <a:pPr algn="l" indent="0" marL="0">
              <a:lnSpc>
                <a:spcPct val="119467"/>
              </a:lnSpc>
              <a:buNone/>
            </a:pPr>
            <a:r>
              <a:rPr lang="en-US" sz="2000" baseline="-40000" spc="24" kern="0" dirty="0">
                <a:solidFill>
                  <a:srgbClr val="201E1D"/>
                </a:solidFill>
                <a:latin typeface="Arial" pitchFamily="34" charset="0"/>
                <a:ea typeface="Arial" pitchFamily="34" charset="-122"/>
                <a:cs typeface="Arial" pitchFamily="34" charset="-120"/>
              </a:rPr>
              <a:t>i </a:t>
            </a:r>
            <a:pPr algn="l" indent="0" marL="0">
              <a:lnSpc>
                <a:spcPct val="119467"/>
              </a:lnSpc>
              <a:buNone/>
            </a:pPr>
            <a:r>
              <a:rPr lang="en-US" sz="2400" spc="24" kern="0" dirty="0">
                <a:solidFill>
                  <a:srgbClr val="201E1D"/>
                </a:solidFill>
                <a:latin typeface="Arial" pitchFamily="34" charset="0"/>
                <a:ea typeface="Arial" pitchFamily="34" charset="-122"/>
                <a:cs typeface="Arial" pitchFamily="34" charset="-120"/>
              </a:rPr>
              <a:t>∈ {0,…,9} }</a:t>
            </a:r>
            <a:endParaRPr lang="en-US" sz="2400" dirty="0"/>
          </a:p>
        </p:txBody>
      </p:sp>
      <p:sp>
        <p:nvSpPr>
          <p:cNvPr id="43" name="Shape 41"/>
          <p:cNvSpPr/>
          <p:nvPr/>
        </p:nvSpPr>
        <p:spPr>
          <a:xfrm>
            <a:off x="9601171" y="5040312"/>
            <a:ext cx="2260637" cy="13229"/>
          </a:xfrm>
          <a:prstGeom prst="rect">
            <a:avLst/>
          </a:prstGeom>
          <a:solidFill>
            <a:srgbClr val="201E1D"/>
          </a:solidFill>
          <a:ln/>
        </p:spPr>
      </p:sp>
      <p:sp>
        <p:nvSpPr>
          <p:cNvPr id="44" name="Text 42"/>
          <p:cNvSpPr/>
          <p:nvPr/>
        </p:nvSpPr>
        <p:spPr>
          <a:xfrm>
            <a:off x="9601171" y="5224900"/>
            <a:ext cx="2486701" cy="1181079"/>
          </a:xfrm>
          <a:prstGeom prst="rect">
            <a:avLst/>
          </a:prstGeom>
          <a:noFill/>
          <a:ln/>
        </p:spPr>
        <p:txBody>
          <a:bodyPr wrap="square" lIns="25400" tIns="25400" rIns="25400" bIns="25400" rtlCol="0" anchor="t">
            <a:normAutofit/>
          </a:bodyPr>
          <a:lstStyle/>
          <a:p>
            <a:pPr algn="l" indent="0" marL="0">
              <a:lnSpc>
                <a:spcPct val="86834"/>
              </a:lnSpc>
              <a:buNone/>
            </a:pPr>
            <a:r>
              <a:rPr lang="en-US" sz="9000" b="1" spc="-180" kern="0" dirty="0">
                <a:solidFill>
                  <a:srgbClr val="201E1D"/>
                </a:solidFill>
                <a:latin typeface="Arial" pitchFamily="34" charset="0"/>
                <a:ea typeface="Arial" pitchFamily="34" charset="-122"/>
                <a:cs typeface="Arial" pitchFamily="34" charset="-120"/>
              </a:rPr>
              <a:t>13</a:t>
            </a:r>
            <a:endParaRPr lang="en-US" sz="9000" dirty="0"/>
          </a:p>
        </p:txBody>
      </p:sp>
      <p:sp>
        <p:nvSpPr>
          <p:cNvPr id="45" name="Text 43"/>
          <p:cNvSpPr/>
          <p:nvPr/>
        </p:nvSpPr>
        <p:spPr>
          <a:xfrm>
            <a:off x="9601171" y="6501205"/>
            <a:ext cx="2336837"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symbols in every valid ID</a:t>
            </a:r>
            <a:endParaRPr lang="en-US" sz="2100" dirty="0"/>
          </a:p>
        </p:txBody>
      </p:sp>
      <p:sp>
        <p:nvSpPr>
          <p:cNvPr id="46" name="Shape 44"/>
          <p:cNvSpPr/>
          <p:nvPr/>
        </p:nvSpPr>
        <p:spPr>
          <a:xfrm>
            <a:off x="12242767" y="5040312"/>
            <a:ext cx="2260637" cy="13229"/>
          </a:xfrm>
          <a:prstGeom prst="rect">
            <a:avLst/>
          </a:prstGeom>
          <a:solidFill>
            <a:srgbClr val="201E1D"/>
          </a:solidFill>
          <a:ln/>
        </p:spPr>
      </p:sp>
      <p:sp>
        <p:nvSpPr>
          <p:cNvPr id="47" name="Text 45"/>
          <p:cNvSpPr/>
          <p:nvPr/>
        </p:nvSpPr>
        <p:spPr>
          <a:xfrm>
            <a:off x="12242767" y="5224900"/>
            <a:ext cx="2486701" cy="1181079"/>
          </a:xfrm>
          <a:prstGeom prst="rect">
            <a:avLst/>
          </a:prstGeom>
          <a:noFill/>
          <a:ln/>
        </p:spPr>
        <p:txBody>
          <a:bodyPr wrap="square" lIns="25400" tIns="25400" rIns="25400" bIns="25400" rtlCol="0" anchor="t">
            <a:normAutofit/>
          </a:bodyPr>
          <a:lstStyle/>
          <a:p>
            <a:pPr algn="l" indent="0" marL="0">
              <a:lnSpc>
                <a:spcPct val="86834"/>
              </a:lnSpc>
              <a:buNone/>
            </a:pPr>
            <a:r>
              <a:rPr lang="en-US" sz="9000" b="1" spc="-180" kern="0" dirty="0">
                <a:solidFill>
                  <a:srgbClr val="201E1D"/>
                </a:solidFill>
                <a:latin typeface="Arial" pitchFamily="34" charset="0"/>
                <a:ea typeface="Arial" pitchFamily="34" charset="-122"/>
                <a:cs typeface="Arial" pitchFamily="34" charset="-120"/>
              </a:rPr>
              <a:t>14</a:t>
            </a:r>
            <a:endParaRPr lang="en-US" sz="9000" dirty="0"/>
          </a:p>
        </p:txBody>
      </p:sp>
      <p:sp>
        <p:nvSpPr>
          <p:cNvPr id="48" name="Text 46"/>
          <p:cNvSpPr/>
          <p:nvPr/>
        </p:nvSpPr>
        <p:spPr>
          <a:xfrm>
            <a:off x="12242767" y="6501205"/>
            <a:ext cx="2336837"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symbols in the alphabet, |Σ| = 14</a:t>
            </a:r>
            <a:endParaRPr lang="en-US" sz="2100" dirty="0"/>
          </a:p>
        </p:txBody>
      </p:sp>
      <p:sp>
        <p:nvSpPr>
          <p:cNvPr id="49" name="Shape 47"/>
          <p:cNvSpPr/>
          <p:nvPr/>
        </p:nvSpPr>
        <p:spPr>
          <a:xfrm>
            <a:off x="14884362" y="5040312"/>
            <a:ext cx="2260637" cy="13229"/>
          </a:xfrm>
          <a:prstGeom prst="rect">
            <a:avLst/>
          </a:prstGeom>
          <a:solidFill>
            <a:srgbClr val="EC3013"/>
          </a:solidFill>
          <a:ln/>
        </p:spPr>
      </p:sp>
      <p:sp>
        <p:nvSpPr>
          <p:cNvPr id="50" name="Text 48"/>
          <p:cNvSpPr/>
          <p:nvPr/>
        </p:nvSpPr>
        <p:spPr>
          <a:xfrm>
            <a:off x="14884362" y="5224900"/>
            <a:ext cx="2486701" cy="1181079"/>
          </a:xfrm>
          <a:prstGeom prst="rect">
            <a:avLst/>
          </a:prstGeom>
          <a:noFill/>
          <a:ln/>
        </p:spPr>
        <p:txBody>
          <a:bodyPr wrap="square" lIns="25400" tIns="25400" rIns="25400" bIns="25400" rtlCol="0" anchor="t">
            <a:normAutofit/>
          </a:bodyPr>
          <a:lstStyle/>
          <a:p>
            <a:pPr algn="l" indent="0" marL="0">
              <a:lnSpc>
                <a:spcPct val="86834"/>
              </a:lnSpc>
              <a:buNone/>
            </a:pPr>
            <a:r>
              <a:rPr lang="en-US" sz="9000" b="1" spc="-180" kern="0" dirty="0">
                <a:solidFill>
                  <a:srgbClr val="EC3013"/>
                </a:solidFill>
                <a:latin typeface="Arial" pitchFamily="34" charset="0"/>
                <a:ea typeface="Arial" pitchFamily="34" charset="-122"/>
                <a:cs typeface="Arial" pitchFamily="34" charset="-120"/>
              </a:rPr>
              <a:t>10⁸</a:t>
            </a:r>
            <a:endParaRPr lang="en-US" sz="9000" dirty="0"/>
          </a:p>
        </p:txBody>
      </p:sp>
      <p:sp>
        <p:nvSpPr>
          <p:cNvPr id="51" name="Text 49"/>
          <p:cNvSpPr/>
          <p:nvPr/>
        </p:nvSpPr>
        <p:spPr>
          <a:xfrm>
            <a:off x="14884362" y="6501205"/>
            <a:ext cx="2336837"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valid IDs — 100,000,000</a:t>
            </a:r>
            <a:endParaRPr lang="en-US" sz="2100" dirty="0"/>
          </a:p>
        </p:txBody>
      </p:sp>
      <p:sp>
        <p:nvSpPr>
          <p:cNvPr id="52" name="Text 50"/>
          <p:cNvSpPr/>
          <p:nvPr/>
        </p:nvSpPr>
        <p:spPr>
          <a:xfrm>
            <a:off x="9601171" y="7655450"/>
            <a:ext cx="8298211"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|L| is finite, so L is regular.</a:t>
            </a:r>
            <a:endParaRPr lang="en-US" sz="2550" dirty="0"/>
          </a:p>
        </p:txBody>
      </p:sp>
      <p:pic>
        <p:nvPicPr>
          <p:cNvPr id="53" name="Image 0" descr="preencoded.png">    </p:cNvPr>
          <p:cNvPicPr>
            <a:picLocks noChangeAspect="1"/>
          </p:cNvPicPr>
          <p:nvPr/>
        </p:nvPicPr>
        <p:blipFill>
          <a:blip r:embed="rId1"/>
          <a:stretch>
            <a:fillRect/>
          </a:stretch>
        </p:blipFill>
        <p:spPr>
          <a:xfrm>
            <a:off x="1142979" y="9399323"/>
            <a:ext cx="4698318" cy="3542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2846637"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03 · CONSTRUCTION</a:t>
            </a:r>
            <a:endParaRPr lang="en-US" sz="1800" dirty="0"/>
          </a:p>
        </p:txBody>
      </p:sp>
      <p:sp>
        <p:nvSpPr>
          <p:cNvPr id="4" name="Text 2"/>
          <p:cNvSpPr/>
          <p:nvPr/>
        </p:nvSpPr>
        <p:spPr>
          <a:xfrm>
            <a:off x="12768936" y="495267"/>
            <a:ext cx="48136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DOTOSME — PRESENTATION LEAD</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The Automata Pipeline</a:t>
            </a:r>
            <a:endParaRPr lang="en-US" sz="4800" dirty="0"/>
          </a:p>
        </p:txBody>
      </p:sp>
      <p:sp>
        <p:nvSpPr>
          <p:cNvPr id="6" name="Shape 4"/>
          <p:cNvSpPr/>
          <p:nvPr/>
        </p:nvSpPr>
        <p:spPr>
          <a:xfrm>
            <a:off x="1142979" y="2971705"/>
            <a:ext cx="3200321" cy="13229"/>
          </a:xfrm>
          <a:prstGeom prst="rect">
            <a:avLst/>
          </a:prstGeom>
          <a:solidFill>
            <a:srgbClr val="201E1D"/>
          </a:solidFill>
          <a:ln/>
        </p:spPr>
      </p:sp>
      <p:sp>
        <p:nvSpPr>
          <p:cNvPr id="7" name="Text 5"/>
          <p:cNvSpPr/>
          <p:nvPr/>
        </p:nvSpPr>
        <p:spPr>
          <a:xfrm>
            <a:off x="1142979" y="3194430"/>
            <a:ext cx="322703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01 →</a:t>
            </a:r>
            <a:endParaRPr lang="en-US" sz="1800" dirty="0"/>
          </a:p>
        </p:txBody>
      </p:sp>
      <p:sp>
        <p:nvSpPr>
          <p:cNvPr id="8" name="Text 6"/>
          <p:cNvSpPr/>
          <p:nvPr/>
        </p:nvSpPr>
        <p:spPr>
          <a:xfrm>
            <a:off x="1142979" y="3720083"/>
            <a:ext cx="3227038"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Regex AST</a:t>
            </a:r>
            <a:endParaRPr lang="en-US" sz="2550" dirty="0"/>
          </a:p>
        </p:txBody>
      </p:sp>
      <p:sp>
        <p:nvSpPr>
          <p:cNvPr id="9" name="Text 7"/>
          <p:cNvSpPr/>
          <p:nvPr/>
        </p:nvSpPr>
        <p:spPr>
          <a:xfrm>
            <a:off x="1142979" y="4470425"/>
            <a:ext cx="3227038" cy="1028737"/>
          </a:xfrm>
          <a:prstGeom prst="rect">
            <a:avLst/>
          </a:prstGeom>
          <a:noFill/>
          <a:ln/>
        </p:spPr>
        <p:txBody>
          <a:bodyPr wrap="square" lIns="25400" tIns="25400" rIns="25400" bIns="25400" rtlCol="0" anchor="t">
            <a:normAutofit/>
          </a:bodyPr>
          <a:lstStyle/>
          <a:p>
            <a:pPr algn="l" indent="0" marL="0">
              <a:lnSpc>
                <a:spcPct val="86566"/>
              </a:lnSpc>
              <a:buNone/>
            </a:pPr>
            <a:r>
              <a:rPr lang="en-US" sz="7800" b="1" spc="-156" kern="0" dirty="0">
                <a:solidFill>
                  <a:srgbClr val="201E1D"/>
                </a:solidFill>
                <a:latin typeface="Arial" pitchFamily="34" charset="0"/>
                <a:ea typeface="Arial" pitchFamily="34" charset="-122"/>
                <a:cs typeface="Arial" pitchFamily="34" charset="-120"/>
              </a:rPr>
              <a:t>AST</a:t>
            </a:r>
            <a:endParaRPr lang="en-US" sz="7800" dirty="0"/>
          </a:p>
        </p:txBody>
      </p:sp>
      <p:sp>
        <p:nvSpPr>
          <p:cNvPr id="10" name="Text 8"/>
          <p:cNvSpPr/>
          <p:nvPr/>
        </p:nvSpPr>
        <p:spPr>
          <a:xfrm>
            <a:off x="1142979" y="5632421"/>
            <a:ext cx="3227038"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spc="21" kern="0" dirty="0">
                <a:solidFill>
                  <a:srgbClr val="201E1D"/>
                </a:solidFill>
                <a:latin typeface="Arial" pitchFamily="34" charset="0"/>
                <a:ea typeface="Arial" pitchFamily="34" charset="-122"/>
                <a:cs typeface="Arial" pitchFamily="34" charset="-120"/>
              </a:rPr>
              <a:t>EMP-D⁴-D⁴</a:t>
            </a:r>
            <a:endParaRPr lang="en-US" sz="2100" dirty="0"/>
          </a:p>
        </p:txBody>
      </p:sp>
      <p:sp>
        <p:nvSpPr>
          <p:cNvPr id="11" name="Shape 9"/>
          <p:cNvSpPr/>
          <p:nvPr/>
        </p:nvSpPr>
        <p:spPr>
          <a:xfrm>
            <a:off x="4343301" y="2971705"/>
            <a:ext cx="3200425" cy="13229"/>
          </a:xfrm>
          <a:prstGeom prst="rect">
            <a:avLst/>
          </a:prstGeom>
          <a:solidFill>
            <a:srgbClr val="201E1D"/>
          </a:solidFill>
          <a:ln/>
        </p:spPr>
      </p:sp>
      <p:sp>
        <p:nvSpPr>
          <p:cNvPr id="12" name="Shape 10"/>
          <p:cNvSpPr/>
          <p:nvPr/>
        </p:nvSpPr>
        <p:spPr>
          <a:xfrm>
            <a:off x="4343301" y="2971705"/>
            <a:ext cx="13229" cy="3435862"/>
          </a:xfrm>
          <a:prstGeom prst="rect">
            <a:avLst/>
          </a:prstGeom>
          <a:solidFill>
            <a:srgbClr val="201E1E">
              <a:alpha val="40000"/>
            </a:srgbClr>
          </a:solidFill>
          <a:ln/>
        </p:spPr>
      </p:sp>
      <p:sp>
        <p:nvSpPr>
          <p:cNvPr id="13" name="Text 11"/>
          <p:cNvSpPr/>
          <p:nvPr/>
        </p:nvSpPr>
        <p:spPr>
          <a:xfrm>
            <a:off x="4623180" y="3194430"/>
            <a:ext cx="291928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02 →</a:t>
            </a:r>
            <a:endParaRPr lang="en-US" sz="1800" dirty="0"/>
          </a:p>
        </p:txBody>
      </p:sp>
      <p:sp>
        <p:nvSpPr>
          <p:cNvPr id="14" name="Text 12"/>
          <p:cNvSpPr/>
          <p:nvPr/>
        </p:nvSpPr>
        <p:spPr>
          <a:xfrm>
            <a:off x="4623180" y="3720083"/>
            <a:ext cx="2733512" cy="815107"/>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Thompson ε-NFA</a:t>
            </a:r>
            <a:endParaRPr lang="en-US" sz="2550" dirty="0"/>
          </a:p>
        </p:txBody>
      </p:sp>
      <p:sp>
        <p:nvSpPr>
          <p:cNvPr id="15" name="Text 13"/>
          <p:cNvSpPr/>
          <p:nvPr/>
        </p:nvSpPr>
        <p:spPr>
          <a:xfrm>
            <a:off x="4623180" y="4858928"/>
            <a:ext cx="2919284" cy="1028737"/>
          </a:xfrm>
          <a:prstGeom prst="rect">
            <a:avLst/>
          </a:prstGeom>
          <a:noFill/>
          <a:ln/>
        </p:spPr>
        <p:txBody>
          <a:bodyPr wrap="square" lIns="25400" tIns="25400" rIns="25400" bIns="25400" rtlCol="0" anchor="t">
            <a:normAutofit/>
          </a:bodyPr>
          <a:lstStyle/>
          <a:p>
            <a:pPr algn="l" indent="0" marL="0">
              <a:lnSpc>
                <a:spcPct val="86566"/>
              </a:lnSpc>
              <a:buNone/>
            </a:pPr>
            <a:r>
              <a:rPr lang="en-US" sz="7800" b="1" spc="-156" kern="0" dirty="0">
                <a:solidFill>
                  <a:srgbClr val="201E1D"/>
                </a:solidFill>
                <a:latin typeface="Arial" pitchFamily="34" charset="0"/>
                <a:ea typeface="Arial" pitchFamily="34" charset="-122"/>
                <a:cs typeface="Arial" pitchFamily="34" charset="-120"/>
              </a:rPr>
              <a:t>26</a:t>
            </a:r>
            <a:endParaRPr lang="en-US" sz="7800" dirty="0"/>
          </a:p>
        </p:txBody>
      </p:sp>
      <p:sp>
        <p:nvSpPr>
          <p:cNvPr id="16" name="Text 14"/>
          <p:cNvSpPr/>
          <p:nvPr/>
        </p:nvSpPr>
        <p:spPr>
          <a:xfrm>
            <a:off x="4623180" y="6020924"/>
            <a:ext cx="2919284"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ε-NFA states</a:t>
            </a:r>
            <a:endParaRPr lang="en-US" sz="2100" dirty="0"/>
          </a:p>
        </p:txBody>
      </p:sp>
      <p:sp>
        <p:nvSpPr>
          <p:cNvPr id="17" name="Shape 15"/>
          <p:cNvSpPr/>
          <p:nvPr/>
        </p:nvSpPr>
        <p:spPr>
          <a:xfrm>
            <a:off x="7543726" y="2971705"/>
            <a:ext cx="3200425" cy="13229"/>
          </a:xfrm>
          <a:prstGeom prst="rect">
            <a:avLst/>
          </a:prstGeom>
          <a:solidFill>
            <a:srgbClr val="201E1D"/>
          </a:solidFill>
          <a:ln/>
        </p:spPr>
      </p:sp>
      <p:sp>
        <p:nvSpPr>
          <p:cNvPr id="18" name="Shape 16"/>
          <p:cNvSpPr/>
          <p:nvPr/>
        </p:nvSpPr>
        <p:spPr>
          <a:xfrm>
            <a:off x="7543726" y="2971705"/>
            <a:ext cx="13229" cy="3435862"/>
          </a:xfrm>
          <a:prstGeom prst="rect">
            <a:avLst/>
          </a:prstGeom>
          <a:solidFill>
            <a:srgbClr val="201E1E">
              <a:alpha val="40000"/>
            </a:srgbClr>
          </a:solidFill>
          <a:ln/>
        </p:spPr>
      </p:sp>
      <p:sp>
        <p:nvSpPr>
          <p:cNvPr id="19" name="Text 17"/>
          <p:cNvSpPr/>
          <p:nvPr/>
        </p:nvSpPr>
        <p:spPr>
          <a:xfrm>
            <a:off x="7823605" y="3194430"/>
            <a:ext cx="291928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03 →</a:t>
            </a:r>
            <a:endParaRPr lang="en-US" sz="1800" dirty="0"/>
          </a:p>
        </p:txBody>
      </p:sp>
      <p:sp>
        <p:nvSpPr>
          <p:cNvPr id="20" name="Text 18"/>
          <p:cNvSpPr/>
          <p:nvPr/>
        </p:nvSpPr>
        <p:spPr>
          <a:xfrm>
            <a:off x="7823605" y="3720083"/>
            <a:ext cx="2919284"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Subset DFA</a:t>
            </a:r>
            <a:endParaRPr lang="en-US" sz="2550" dirty="0"/>
          </a:p>
        </p:txBody>
      </p:sp>
      <p:sp>
        <p:nvSpPr>
          <p:cNvPr id="21" name="Text 19"/>
          <p:cNvSpPr/>
          <p:nvPr/>
        </p:nvSpPr>
        <p:spPr>
          <a:xfrm>
            <a:off x="7823605" y="4470425"/>
            <a:ext cx="2919284" cy="1028737"/>
          </a:xfrm>
          <a:prstGeom prst="rect">
            <a:avLst/>
          </a:prstGeom>
          <a:noFill/>
          <a:ln/>
        </p:spPr>
        <p:txBody>
          <a:bodyPr wrap="square" lIns="25400" tIns="25400" rIns="25400" bIns="25400" rtlCol="0" anchor="t">
            <a:normAutofit/>
          </a:bodyPr>
          <a:lstStyle/>
          <a:p>
            <a:pPr algn="l" indent="0" marL="0">
              <a:lnSpc>
                <a:spcPct val="86566"/>
              </a:lnSpc>
              <a:buNone/>
            </a:pPr>
            <a:r>
              <a:rPr lang="en-US" sz="7800" b="1" spc="-156" kern="0" dirty="0">
                <a:solidFill>
                  <a:srgbClr val="201E1D"/>
                </a:solidFill>
                <a:latin typeface="Arial" pitchFamily="34" charset="0"/>
                <a:ea typeface="Arial" pitchFamily="34" charset="-122"/>
                <a:cs typeface="Arial" pitchFamily="34" charset="-120"/>
              </a:rPr>
              <a:t>15</a:t>
            </a:r>
            <a:endParaRPr lang="en-US" sz="7800" dirty="0"/>
          </a:p>
        </p:txBody>
      </p:sp>
      <p:sp>
        <p:nvSpPr>
          <p:cNvPr id="22" name="Text 20"/>
          <p:cNvSpPr/>
          <p:nvPr/>
        </p:nvSpPr>
        <p:spPr>
          <a:xfrm>
            <a:off x="7823605" y="5632421"/>
            <a:ext cx="2919284"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DFA states</a:t>
            </a:r>
            <a:endParaRPr lang="en-US" sz="2100" dirty="0"/>
          </a:p>
        </p:txBody>
      </p:sp>
      <p:sp>
        <p:nvSpPr>
          <p:cNvPr id="23" name="Shape 21"/>
          <p:cNvSpPr/>
          <p:nvPr/>
        </p:nvSpPr>
        <p:spPr>
          <a:xfrm>
            <a:off x="10744150" y="2971705"/>
            <a:ext cx="3200425" cy="13229"/>
          </a:xfrm>
          <a:prstGeom prst="rect">
            <a:avLst/>
          </a:prstGeom>
          <a:solidFill>
            <a:srgbClr val="201E1D"/>
          </a:solidFill>
          <a:ln/>
        </p:spPr>
      </p:sp>
      <p:sp>
        <p:nvSpPr>
          <p:cNvPr id="24" name="Shape 22"/>
          <p:cNvSpPr/>
          <p:nvPr/>
        </p:nvSpPr>
        <p:spPr>
          <a:xfrm>
            <a:off x="10744150" y="2971705"/>
            <a:ext cx="13229" cy="3435862"/>
          </a:xfrm>
          <a:prstGeom prst="rect">
            <a:avLst/>
          </a:prstGeom>
          <a:solidFill>
            <a:srgbClr val="201E1E">
              <a:alpha val="40000"/>
            </a:srgbClr>
          </a:solidFill>
          <a:ln/>
        </p:spPr>
      </p:sp>
      <p:sp>
        <p:nvSpPr>
          <p:cNvPr id="25" name="Text 23"/>
          <p:cNvSpPr/>
          <p:nvPr/>
        </p:nvSpPr>
        <p:spPr>
          <a:xfrm>
            <a:off x="11024029" y="3194430"/>
            <a:ext cx="291928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04 →</a:t>
            </a:r>
            <a:endParaRPr lang="en-US" sz="1800" dirty="0"/>
          </a:p>
        </p:txBody>
      </p:sp>
      <p:sp>
        <p:nvSpPr>
          <p:cNvPr id="26" name="Text 24"/>
          <p:cNvSpPr/>
          <p:nvPr/>
        </p:nvSpPr>
        <p:spPr>
          <a:xfrm>
            <a:off x="11024029" y="3720083"/>
            <a:ext cx="2733512" cy="815107"/>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Moore minimization</a:t>
            </a:r>
            <a:endParaRPr lang="en-US" sz="2550" dirty="0"/>
          </a:p>
        </p:txBody>
      </p:sp>
      <p:sp>
        <p:nvSpPr>
          <p:cNvPr id="27" name="Text 25"/>
          <p:cNvSpPr/>
          <p:nvPr/>
        </p:nvSpPr>
        <p:spPr>
          <a:xfrm>
            <a:off x="11024029" y="4858928"/>
            <a:ext cx="2919284" cy="1028737"/>
          </a:xfrm>
          <a:prstGeom prst="rect">
            <a:avLst/>
          </a:prstGeom>
          <a:noFill/>
          <a:ln/>
        </p:spPr>
        <p:txBody>
          <a:bodyPr wrap="square" lIns="25400" tIns="25400" rIns="25400" bIns="25400" rtlCol="0" anchor="t">
            <a:normAutofit/>
          </a:bodyPr>
          <a:lstStyle/>
          <a:p>
            <a:pPr algn="l" indent="0" marL="0">
              <a:lnSpc>
                <a:spcPct val="86566"/>
              </a:lnSpc>
              <a:buNone/>
            </a:pPr>
            <a:r>
              <a:rPr lang="en-US" sz="7800" b="1" spc="-156" kern="0" dirty="0">
                <a:solidFill>
                  <a:srgbClr val="201E1D"/>
                </a:solidFill>
                <a:latin typeface="Arial" pitchFamily="34" charset="0"/>
                <a:ea typeface="Arial" pitchFamily="34" charset="-122"/>
                <a:cs typeface="Arial" pitchFamily="34" charset="-120"/>
              </a:rPr>
              <a:t>15</a:t>
            </a:r>
            <a:endParaRPr lang="en-US" sz="7800" dirty="0"/>
          </a:p>
        </p:txBody>
      </p:sp>
      <p:sp>
        <p:nvSpPr>
          <p:cNvPr id="28" name="Text 26"/>
          <p:cNvSpPr/>
          <p:nvPr/>
        </p:nvSpPr>
        <p:spPr>
          <a:xfrm>
            <a:off x="11024029" y="6020924"/>
            <a:ext cx="2919284"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minimal states</a:t>
            </a:r>
            <a:endParaRPr lang="en-US" sz="2100" dirty="0"/>
          </a:p>
        </p:txBody>
      </p:sp>
      <p:sp>
        <p:nvSpPr>
          <p:cNvPr id="29" name="Shape 27"/>
          <p:cNvSpPr/>
          <p:nvPr/>
        </p:nvSpPr>
        <p:spPr>
          <a:xfrm>
            <a:off x="13944574" y="2971705"/>
            <a:ext cx="3200425" cy="13229"/>
          </a:xfrm>
          <a:prstGeom prst="rect">
            <a:avLst/>
          </a:prstGeom>
          <a:solidFill>
            <a:srgbClr val="201E1D"/>
          </a:solidFill>
          <a:ln/>
        </p:spPr>
      </p:sp>
      <p:sp>
        <p:nvSpPr>
          <p:cNvPr id="30" name="Shape 28"/>
          <p:cNvSpPr/>
          <p:nvPr/>
        </p:nvSpPr>
        <p:spPr>
          <a:xfrm>
            <a:off x="13944574" y="2971705"/>
            <a:ext cx="13229" cy="3435862"/>
          </a:xfrm>
          <a:prstGeom prst="rect">
            <a:avLst/>
          </a:prstGeom>
          <a:solidFill>
            <a:srgbClr val="201E1E">
              <a:alpha val="40000"/>
            </a:srgbClr>
          </a:solidFill>
          <a:ln/>
        </p:spPr>
      </p:sp>
      <p:sp>
        <p:nvSpPr>
          <p:cNvPr id="31" name="Text 29"/>
          <p:cNvSpPr/>
          <p:nvPr/>
        </p:nvSpPr>
        <p:spPr>
          <a:xfrm>
            <a:off x="14224454" y="3194430"/>
            <a:ext cx="321260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05</a:t>
            </a:r>
            <a:endParaRPr lang="en-US" sz="1800" dirty="0"/>
          </a:p>
        </p:txBody>
      </p:sp>
      <p:sp>
        <p:nvSpPr>
          <p:cNvPr id="32" name="Text 30"/>
          <p:cNvSpPr/>
          <p:nvPr/>
        </p:nvSpPr>
        <p:spPr>
          <a:xfrm>
            <a:off x="14224454" y="3720083"/>
            <a:ext cx="3212600"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Simulator + GUI</a:t>
            </a:r>
            <a:endParaRPr lang="en-US" sz="2550" dirty="0"/>
          </a:p>
        </p:txBody>
      </p:sp>
      <p:sp>
        <p:nvSpPr>
          <p:cNvPr id="33" name="Text 31"/>
          <p:cNvSpPr/>
          <p:nvPr/>
        </p:nvSpPr>
        <p:spPr>
          <a:xfrm>
            <a:off x="14224454" y="4470425"/>
            <a:ext cx="3212600" cy="1028737"/>
          </a:xfrm>
          <a:prstGeom prst="rect">
            <a:avLst/>
          </a:prstGeom>
          <a:noFill/>
          <a:ln/>
        </p:spPr>
        <p:txBody>
          <a:bodyPr wrap="square" lIns="25400" tIns="25400" rIns="25400" bIns="25400" rtlCol="0" anchor="t">
            <a:normAutofit/>
          </a:bodyPr>
          <a:lstStyle/>
          <a:p>
            <a:pPr algn="l" indent="0" marL="0">
              <a:lnSpc>
                <a:spcPct val="86566"/>
              </a:lnSpc>
              <a:buNone/>
            </a:pPr>
            <a:r>
              <a:rPr lang="en-US" sz="7800" b="1" spc="-156" kern="0" dirty="0">
                <a:solidFill>
                  <a:srgbClr val="201E1D"/>
                </a:solidFill>
                <a:latin typeface="Arial" pitchFamily="34" charset="0"/>
                <a:ea typeface="Arial" pitchFamily="34" charset="-122"/>
                <a:cs typeface="Arial" pitchFamily="34" charset="-120"/>
              </a:rPr>
              <a:t>Run</a:t>
            </a:r>
            <a:endParaRPr lang="en-US" sz="7800" dirty="0"/>
          </a:p>
        </p:txBody>
      </p:sp>
      <p:sp>
        <p:nvSpPr>
          <p:cNvPr id="34" name="Text 32"/>
          <p:cNvSpPr/>
          <p:nvPr/>
        </p:nvSpPr>
        <p:spPr>
          <a:xfrm>
            <a:off x="14224454" y="5632421"/>
            <a:ext cx="3212600"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executable validator</a:t>
            </a:r>
            <a:endParaRPr lang="en-US" sz="2100" dirty="0"/>
          </a:p>
        </p:txBody>
      </p:sp>
      <p:sp>
        <p:nvSpPr>
          <p:cNvPr id="35" name="Shape 33"/>
          <p:cNvSpPr/>
          <p:nvPr/>
        </p:nvSpPr>
        <p:spPr>
          <a:xfrm>
            <a:off x="0" y="7772342"/>
            <a:ext cx="18287979" cy="2514575"/>
          </a:xfrm>
          <a:prstGeom prst="rect">
            <a:avLst/>
          </a:prstGeom>
          <a:solidFill>
            <a:srgbClr val="EC3013"/>
          </a:solidFill>
          <a:ln/>
        </p:spPr>
      </p:sp>
      <p:sp>
        <p:nvSpPr>
          <p:cNvPr id="36" name="Text 34"/>
          <p:cNvSpPr/>
          <p:nvPr/>
        </p:nvSpPr>
        <p:spPr>
          <a:xfrm>
            <a:off x="1103292" y="8686705"/>
            <a:ext cx="16111543" cy="723950"/>
          </a:xfrm>
          <a:prstGeom prst="rect">
            <a:avLst/>
          </a:prstGeom>
          <a:noFill/>
          <a:ln/>
        </p:spPr>
        <p:txBody>
          <a:bodyPr wrap="square" lIns="25400" tIns="25400" rIns="25400" bIns="25400" rtlCol="0" anchor="t">
            <a:normAutofit/>
          </a:bodyPr>
          <a:lstStyle/>
          <a:p>
            <a:pPr algn="l" indent="0" marL="0">
              <a:lnSpc>
                <a:spcPct val="87126"/>
              </a:lnSpc>
              <a:buNone/>
            </a:pPr>
            <a:r>
              <a:rPr lang="en-US" sz="5400" b="1" spc="-108" kern="0" dirty="0">
                <a:solidFill>
                  <a:srgbClr val="F3F2F2"/>
                </a:solidFill>
                <a:latin typeface="Arial" pitchFamily="34" charset="0"/>
                <a:ea typeface="Arial" pitchFamily="34" charset="-122"/>
                <a:cs typeface="Arial" pitchFamily="34" charset="-120"/>
              </a:rPr>
              <a:t>No hand-written automaton transition table</a:t>
            </a:r>
            <a:endParaRPr lang="en-US"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174909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04 · STAGE 2</a:t>
            </a:r>
            <a:endParaRPr lang="en-US" sz="1800" dirty="0"/>
          </a:p>
        </p:txBody>
      </p:sp>
      <p:sp>
        <p:nvSpPr>
          <p:cNvPr id="4" name="Text 2"/>
          <p:cNvSpPr/>
          <p:nvPr/>
        </p:nvSpPr>
        <p:spPr>
          <a:xfrm>
            <a:off x="13833677" y="495267"/>
            <a:ext cx="364245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LAUZON — PROGRAMMER</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Thompson’s ε-NFA</a:t>
            </a:r>
            <a:endParaRPr lang="en-US" sz="4800" dirty="0"/>
          </a:p>
        </p:txBody>
      </p:sp>
      <p:pic>
        <p:nvPicPr>
          <p:cNvPr id="6" name="Image 0" descr="preencoded.png">    </p:cNvPr>
          <p:cNvPicPr>
            <a:picLocks noChangeAspect="1"/>
          </p:cNvPicPr>
          <p:nvPr/>
        </p:nvPicPr>
        <p:blipFill>
          <a:blip r:embed="rId1"/>
          <a:stretch>
            <a:fillRect/>
          </a:stretch>
        </p:blipFill>
        <p:spPr>
          <a:xfrm>
            <a:off x="1142979" y="2971705"/>
            <a:ext cx="10477500" cy="3904568"/>
          </a:xfrm>
          <a:prstGeom prst="rect">
            <a:avLst/>
          </a:prstGeom>
        </p:spPr>
      </p:pic>
      <p:sp>
        <p:nvSpPr>
          <p:cNvPr id="7" name="Text 4"/>
          <p:cNvSpPr/>
          <p:nvPr/>
        </p:nvSpPr>
        <p:spPr>
          <a:xfrm>
            <a:off x="1142979" y="7257231"/>
            <a:ext cx="8334705"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96" kern="0" dirty="0">
                <a:solidFill>
                  <a:srgbClr val="201E1D"/>
                </a:solidFill>
                <a:latin typeface="Arial" pitchFamily="34" charset="0"/>
                <a:ea typeface="Arial" pitchFamily="34" charset="-122"/>
                <a:cs typeface="Arial" pitchFamily="34" charset="-120"/>
              </a:rPr>
              <a:t>26 states · 12 ε-transitions</a:t>
            </a:r>
            <a:endParaRPr lang="en-US" sz="4800" dirty="0"/>
          </a:p>
        </p:txBody>
      </p:sp>
      <p:sp>
        <p:nvSpPr>
          <p:cNvPr id="8" name="Text 5"/>
          <p:cNvSpPr/>
          <p:nvPr/>
        </p:nvSpPr>
        <p:spPr>
          <a:xfrm>
            <a:off x="1142979" y="8019252"/>
            <a:ext cx="1152525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START N0 · ACCEPTING N25</a:t>
            </a:r>
            <a:endParaRPr lang="en-US" sz="1800" dirty="0"/>
          </a:p>
        </p:txBody>
      </p:sp>
      <p:sp>
        <p:nvSpPr>
          <p:cNvPr id="9" name="Shape 6"/>
          <p:cNvSpPr/>
          <p:nvPr/>
        </p:nvSpPr>
        <p:spPr>
          <a:xfrm>
            <a:off x="12382397" y="2971705"/>
            <a:ext cx="4762603" cy="13229"/>
          </a:xfrm>
          <a:prstGeom prst="rect">
            <a:avLst/>
          </a:prstGeom>
          <a:solidFill>
            <a:srgbClr val="201E1D"/>
          </a:solidFill>
          <a:ln/>
        </p:spPr>
      </p:sp>
      <p:sp>
        <p:nvSpPr>
          <p:cNvPr id="10" name="Text 7"/>
          <p:cNvSpPr/>
          <p:nvPr/>
        </p:nvSpPr>
        <p:spPr>
          <a:xfrm>
            <a:off x="12382397" y="3156293"/>
            <a:ext cx="523886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01 · REGEX FRAGMENT</a:t>
            </a:r>
            <a:endParaRPr lang="en-US" sz="1800" dirty="0"/>
          </a:p>
        </p:txBody>
      </p:sp>
      <p:sp>
        <p:nvSpPr>
          <p:cNvPr id="11" name="Text 8"/>
          <p:cNvSpPr/>
          <p:nvPr/>
        </p:nvSpPr>
        <p:spPr>
          <a:xfrm>
            <a:off x="12382397" y="3624792"/>
            <a:ext cx="5238864" cy="452442"/>
          </a:xfrm>
          <a:prstGeom prst="rect">
            <a:avLst/>
          </a:prstGeom>
          <a:noFill/>
          <a:ln/>
        </p:spPr>
        <p:txBody>
          <a:bodyPr wrap="square" lIns="25400" tIns="25400" rIns="25400" bIns="25400" rtlCol="0" anchor="t">
            <a:normAutofit/>
          </a:bodyPr>
          <a:lstStyle/>
          <a:p>
            <a:pPr algn="l" indent="0" marL="0">
              <a:lnSpc>
                <a:spcPct val="127837"/>
              </a:lnSpc>
              <a:buNone/>
            </a:pPr>
            <a:r>
              <a:rPr lang="en-US" sz="2250" spc="22" kern="0" dirty="0">
                <a:solidFill>
                  <a:srgbClr val="201E1D"/>
                </a:solidFill>
                <a:latin typeface="Arial" pitchFamily="34" charset="0"/>
                <a:ea typeface="Arial" pitchFamily="34" charset="-122"/>
                <a:cs typeface="Arial" pitchFamily="34" charset="-120"/>
              </a:rPr>
              <a:t>EMP-D⁴-D⁴</a:t>
            </a:r>
            <a:endParaRPr lang="en-US" sz="2250" dirty="0"/>
          </a:p>
        </p:txBody>
      </p:sp>
      <p:sp>
        <p:nvSpPr>
          <p:cNvPr id="12" name="Text 9"/>
          <p:cNvSpPr/>
          <p:nvPr/>
        </p:nvSpPr>
        <p:spPr>
          <a:xfrm>
            <a:off x="12382397" y="4153338"/>
            <a:ext cx="5238864"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spc="21" kern="0" dirty="0">
                <a:solidFill>
                  <a:srgbClr val="201E1D"/>
                </a:solidFill>
                <a:latin typeface="Arial" pitchFamily="34" charset="0"/>
                <a:ea typeface="Arial" pitchFamily="34" charset="-122"/>
                <a:cs typeface="Arial" pitchFamily="34" charset="-120"/>
              </a:rPr>
              <a:t>D = (0 ∪ 1 ∪ … ∪ 9)</a:t>
            </a:r>
            <a:endParaRPr lang="en-US" sz="2100" dirty="0"/>
          </a:p>
        </p:txBody>
      </p:sp>
      <p:sp>
        <p:nvSpPr>
          <p:cNvPr id="13" name="Shape 10"/>
          <p:cNvSpPr/>
          <p:nvPr/>
        </p:nvSpPr>
        <p:spPr>
          <a:xfrm>
            <a:off x="12382397" y="4882803"/>
            <a:ext cx="4762603" cy="13229"/>
          </a:xfrm>
          <a:prstGeom prst="rect">
            <a:avLst/>
          </a:prstGeom>
          <a:solidFill>
            <a:srgbClr val="201E1D"/>
          </a:solidFill>
          <a:ln/>
        </p:spPr>
      </p:sp>
      <p:sp>
        <p:nvSpPr>
          <p:cNvPr id="14" name="Text 11"/>
          <p:cNvSpPr/>
          <p:nvPr/>
        </p:nvSpPr>
        <p:spPr>
          <a:xfrm>
            <a:off x="12382397" y="5067391"/>
            <a:ext cx="523886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02 · CONSTRUCTION</a:t>
            </a:r>
            <a:endParaRPr lang="en-US" sz="1800" dirty="0"/>
          </a:p>
        </p:txBody>
      </p:sp>
      <p:sp>
        <p:nvSpPr>
          <p:cNvPr id="15" name="Text 12"/>
          <p:cNvSpPr/>
          <p:nvPr/>
        </p:nvSpPr>
        <p:spPr>
          <a:xfrm>
            <a:off x="12382397" y="5535889"/>
            <a:ext cx="4905481"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One fragment per symbol; concatenation joins fragments with ε</a:t>
            </a:r>
            <a:endParaRPr lang="en-US" sz="2100" dirty="0"/>
          </a:p>
        </p:txBody>
      </p:sp>
      <p:sp>
        <p:nvSpPr>
          <p:cNvPr id="16" name="Shape 13"/>
          <p:cNvSpPr/>
          <p:nvPr/>
        </p:nvSpPr>
        <p:spPr>
          <a:xfrm>
            <a:off x="12382397" y="6651997"/>
            <a:ext cx="4762603" cy="13229"/>
          </a:xfrm>
          <a:prstGeom prst="rect">
            <a:avLst/>
          </a:prstGeom>
          <a:solidFill>
            <a:srgbClr val="201E1D"/>
          </a:solidFill>
          <a:ln/>
        </p:spPr>
      </p:sp>
      <p:sp>
        <p:nvSpPr>
          <p:cNvPr id="17" name="Text 14"/>
          <p:cNvSpPr/>
          <p:nvPr/>
        </p:nvSpPr>
        <p:spPr>
          <a:xfrm>
            <a:off x="12382397" y="6836585"/>
            <a:ext cx="523886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03 · DIGIT ATOM</a:t>
            </a:r>
            <a:endParaRPr lang="en-US" sz="1800" dirty="0"/>
          </a:p>
        </p:txBody>
      </p:sp>
      <p:sp>
        <p:nvSpPr>
          <p:cNvPr id="18" name="Text 15"/>
          <p:cNvSpPr/>
          <p:nvPr/>
        </p:nvSpPr>
        <p:spPr>
          <a:xfrm>
            <a:off x="12382397" y="7305084"/>
            <a:ext cx="4905481"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10 parallel transitions instead of 10 union branches — same language</a:t>
            </a:r>
            <a:endParaRPr lang="en-US" sz="2100" dirty="0"/>
          </a:p>
        </p:txBody>
      </p:sp>
      <p:pic>
        <p:nvPicPr>
          <p:cNvPr id="19" name="Image 1" descr="preencoded.png">    </p:cNvPr>
          <p:cNvPicPr>
            <a:picLocks noChangeAspect="1"/>
          </p:cNvPicPr>
          <p:nvPr/>
        </p:nvPicPr>
        <p:blipFill>
          <a:blip r:embed="rId2"/>
          <a:stretch>
            <a:fillRect/>
          </a:stretch>
        </p:blipFill>
        <p:spPr>
          <a:xfrm>
            <a:off x="1142979" y="9399323"/>
            <a:ext cx="4698318" cy="3542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174909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05 · STAGE 3</a:t>
            </a:r>
            <a:endParaRPr lang="en-US" sz="1800" dirty="0"/>
          </a:p>
        </p:txBody>
      </p:sp>
      <p:sp>
        <p:nvSpPr>
          <p:cNvPr id="4" name="Text 2"/>
          <p:cNvSpPr/>
          <p:nvPr/>
        </p:nvSpPr>
        <p:spPr>
          <a:xfrm>
            <a:off x="13833677" y="495267"/>
            <a:ext cx="364245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LAUZON — PROGRAMMER</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Subset Construction</a:t>
            </a:r>
            <a:endParaRPr lang="en-US" sz="4800" dirty="0"/>
          </a:p>
        </p:txBody>
      </p:sp>
      <p:pic>
        <p:nvPicPr>
          <p:cNvPr id="6" name="Image 0" descr="preencoded.png">    </p:cNvPr>
          <p:cNvPicPr>
            <a:picLocks noChangeAspect="1"/>
          </p:cNvPicPr>
          <p:nvPr/>
        </p:nvPicPr>
        <p:blipFill>
          <a:blip r:embed="rId1"/>
          <a:stretch>
            <a:fillRect/>
          </a:stretch>
        </p:blipFill>
        <p:spPr>
          <a:xfrm>
            <a:off x="1142979" y="2971705"/>
            <a:ext cx="10477500" cy="3904568"/>
          </a:xfrm>
          <a:prstGeom prst="rect">
            <a:avLst/>
          </a:prstGeom>
        </p:spPr>
      </p:pic>
      <p:sp>
        <p:nvSpPr>
          <p:cNvPr id="7" name="Text 4"/>
          <p:cNvSpPr/>
          <p:nvPr/>
        </p:nvSpPr>
        <p:spPr>
          <a:xfrm>
            <a:off x="1142979" y="7257231"/>
            <a:ext cx="7702031" cy="773766"/>
          </a:xfrm>
          <a:prstGeom prst="rect">
            <a:avLst/>
          </a:prstGeom>
          <a:noFill/>
          <a:ln/>
        </p:spPr>
        <p:txBody>
          <a:bodyPr wrap="square" lIns="25400" tIns="25400" rIns="25400" bIns="25400" rtlCol="0" anchor="t">
            <a:normAutofit/>
          </a:bodyPr>
          <a:lstStyle/>
          <a:p>
            <a:pPr algn="l" indent="0" marL="0">
              <a:lnSpc>
                <a:spcPct val="86943"/>
              </a:lnSpc>
              <a:buNone/>
            </a:pPr>
            <a:r>
              <a:rPr lang="en-US" sz="4800" b="1" spc="-96" kern="0" dirty="0">
                <a:solidFill>
                  <a:srgbClr val="201E1D"/>
                </a:solidFill>
                <a:latin typeface="Arial" pitchFamily="34" charset="0"/>
                <a:ea typeface="Arial" pitchFamily="34" charset="-122"/>
                <a:cs typeface="Arial" pitchFamily="34" charset="-120"/>
              </a:rPr>
              <a:t>15 states · 14 live + D</a:t>
            </a:r>
            <a:pPr algn="l" indent="0" marL="0">
              <a:lnSpc>
                <a:spcPct val="86943"/>
              </a:lnSpc>
              <a:buNone/>
            </a:pPr>
            <a:r>
              <a:rPr lang="en-US" sz="4000" b="1" baseline="-40000" spc="-96" kern="0" dirty="0">
                <a:solidFill>
                  <a:srgbClr val="201E1D"/>
                </a:solidFill>
                <a:latin typeface="Arial" pitchFamily="34" charset="0"/>
                <a:ea typeface="Arial" pitchFamily="34" charset="-122"/>
                <a:cs typeface="Arial" pitchFamily="34" charset="-120"/>
              </a:rPr>
              <a:t>trap</a:t>
            </a:r>
            <a:endParaRPr lang="en-US" sz="4800" dirty="0"/>
          </a:p>
        </p:txBody>
      </p:sp>
      <p:sp>
        <p:nvSpPr>
          <p:cNvPr id="8" name="Text 5"/>
          <p:cNvSpPr/>
          <p:nvPr/>
        </p:nvSpPr>
        <p:spPr>
          <a:xfrm>
            <a:off x="1142979" y="8145342"/>
            <a:ext cx="1152525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LIVE D0 … D13 · TRAP DTRAP</a:t>
            </a:r>
            <a:endParaRPr lang="en-US" sz="1800" dirty="0"/>
          </a:p>
        </p:txBody>
      </p:sp>
      <p:sp>
        <p:nvSpPr>
          <p:cNvPr id="9" name="Shape 6"/>
          <p:cNvSpPr/>
          <p:nvPr/>
        </p:nvSpPr>
        <p:spPr>
          <a:xfrm>
            <a:off x="12382397" y="2971705"/>
            <a:ext cx="4762603" cy="13229"/>
          </a:xfrm>
          <a:prstGeom prst="rect">
            <a:avLst/>
          </a:prstGeom>
          <a:solidFill>
            <a:srgbClr val="201E1D"/>
          </a:solidFill>
          <a:ln/>
        </p:spPr>
      </p:sp>
      <p:sp>
        <p:nvSpPr>
          <p:cNvPr id="10" name="Text 7"/>
          <p:cNvSpPr/>
          <p:nvPr/>
        </p:nvSpPr>
        <p:spPr>
          <a:xfrm>
            <a:off x="12382397" y="3156293"/>
            <a:ext cx="523886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01 · FOR EACH SUBSET S, SYMBOL A</a:t>
            </a:r>
            <a:endParaRPr lang="en-US" sz="1800" dirty="0"/>
          </a:p>
        </p:txBody>
      </p:sp>
      <p:sp>
        <p:nvSpPr>
          <p:cNvPr id="11" name="Text 8"/>
          <p:cNvSpPr/>
          <p:nvPr/>
        </p:nvSpPr>
        <p:spPr>
          <a:xfrm>
            <a:off x="12382397" y="3624792"/>
            <a:ext cx="5238864" cy="480037"/>
          </a:xfrm>
          <a:prstGeom prst="rect">
            <a:avLst/>
          </a:prstGeom>
          <a:noFill/>
          <a:ln/>
        </p:spPr>
        <p:txBody>
          <a:bodyPr wrap="square" lIns="25400" tIns="25400" rIns="25400" bIns="25400" rtlCol="0" anchor="t">
            <a:normAutofit/>
          </a:bodyPr>
          <a:lstStyle/>
          <a:p>
            <a:pPr algn="l" indent="0" marL="0">
              <a:lnSpc>
                <a:spcPct val="123733"/>
              </a:lnSpc>
              <a:buNone/>
            </a:pPr>
            <a:r>
              <a:rPr lang="en-US" sz="2400" spc="24" kern="0" dirty="0">
                <a:solidFill>
                  <a:srgbClr val="201E1D"/>
                </a:solidFill>
                <a:latin typeface="Arial" pitchFamily="34" charset="0"/>
                <a:ea typeface="Arial" pitchFamily="34" charset="-122"/>
                <a:cs typeface="Arial" pitchFamily="34" charset="-120"/>
              </a:rPr>
              <a:t>ε-closure(move(S, a))</a:t>
            </a:r>
            <a:endParaRPr lang="en-US" sz="2400" dirty="0"/>
          </a:p>
        </p:txBody>
      </p:sp>
      <p:sp>
        <p:nvSpPr>
          <p:cNvPr id="12" name="Shape 9"/>
          <p:cNvSpPr/>
          <p:nvPr/>
        </p:nvSpPr>
        <p:spPr>
          <a:xfrm>
            <a:off x="12382397" y="4409550"/>
            <a:ext cx="4762603" cy="13229"/>
          </a:xfrm>
          <a:prstGeom prst="rect">
            <a:avLst/>
          </a:prstGeom>
          <a:solidFill>
            <a:srgbClr val="201E1D"/>
          </a:solidFill>
          <a:ln/>
        </p:spPr>
      </p:sp>
      <p:sp>
        <p:nvSpPr>
          <p:cNvPr id="13" name="Text 10"/>
          <p:cNvSpPr/>
          <p:nvPr/>
        </p:nvSpPr>
        <p:spPr>
          <a:xfrm>
            <a:off x="12382397" y="4594138"/>
            <a:ext cx="523886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02 · NEW SUBSET</a:t>
            </a:r>
            <a:endParaRPr lang="en-US" sz="1800" dirty="0"/>
          </a:p>
        </p:txBody>
      </p:sp>
      <p:sp>
        <p:nvSpPr>
          <p:cNvPr id="14" name="Text 11"/>
          <p:cNvSpPr/>
          <p:nvPr/>
        </p:nvSpPr>
        <p:spPr>
          <a:xfrm>
            <a:off x="12382397" y="5062636"/>
            <a:ext cx="4905481"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Each new set of NFA states becomes one DFA state</a:t>
            </a:r>
            <a:endParaRPr lang="en-US" sz="2100" dirty="0"/>
          </a:p>
        </p:txBody>
      </p:sp>
      <p:sp>
        <p:nvSpPr>
          <p:cNvPr id="15" name="Shape 12"/>
          <p:cNvSpPr/>
          <p:nvPr/>
        </p:nvSpPr>
        <p:spPr>
          <a:xfrm>
            <a:off x="12382397" y="6178744"/>
            <a:ext cx="4762603" cy="13229"/>
          </a:xfrm>
          <a:prstGeom prst="rect">
            <a:avLst/>
          </a:prstGeom>
          <a:solidFill>
            <a:srgbClr val="201E1D"/>
          </a:solidFill>
          <a:ln/>
        </p:spPr>
      </p:sp>
      <p:sp>
        <p:nvSpPr>
          <p:cNvPr id="16" name="Text 13"/>
          <p:cNvSpPr/>
          <p:nvPr/>
        </p:nvSpPr>
        <p:spPr>
          <a:xfrm>
            <a:off x="12382397" y="6363333"/>
            <a:ext cx="5238864"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03 · COMPLETE Δ</a:t>
            </a:r>
            <a:endParaRPr lang="en-US" sz="1800" dirty="0"/>
          </a:p>
        </p:txBody>
      </p:sp>
      <p:sp>
        <p:nvSpPr>
          <p:cNvPr id="17" name="Text 14"/>
          <p:cNvSpPr/>
          <p:nvPr/>
        </p:nvSpPr>
        <p:spPr>
          <a:xfrm>
            <a:off x="12382397" y="6831831"/>
            <a:ext cx="4905481"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Every state has a defined transition for every symbol in Σ</a:t>
            </a:r>
            <a:endParaRPr lang="en-US" sz="2100" dirty="0"/>
          </a:p>
        </p:txBody>
      </p:sp>
      <p:pic>
        <p:nvPicPr>
          <p:cNvPr id="18" name="Image 1" descr="preencoded.png">    </p:cNvPr>
          <p:cNvPicPr>
            <a:picLocks noChangeAspect="1"/>
          </p:cNvPicPr>
          <p:nvPr/>
        </p:nvPicPr>
        <p:blipFill>
          <a:blip r:embed="rId2"/>
          <a:stretch>
            <a:fillRect/>
          </a:stretch>
        </p:blipFill>
        <p:spPr>
          <a:xfrm>
            <a:off x="1142979" y="9399323"/>
            <a:ext cx="4698318" cy="3542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174909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06 · STAGE 4</a:t>
            </a:r>
            <a:endParaRPr lang="en-US" sz="1800" dirty="0"/>
          </a:p>
        </p:txBody>
      </p:sp>
      <p:sp>
        <p:nvSpPr>
          <p:cNvPr id="4" name="Text 2"/>
          <p:cNvSpPr/>
          <p:nvPr/>
        </p:nvSpPr>
        <p:spPr>
          <a:xfrm>
            <a:off x="12862264" y="495267"/>
            <a:ext cx="471101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LAUZON — AUTOMATA OPTIMIZER</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Minimization and the No-Merge Proof</a:t>
            </a:r>
            <a:endParaRPr lang="en-US" sz="4800" dirty="0"/>
          </a:p>
        </p:txBody>
      </p:sp>
      <p:sp>
        <p:nvSpPr>
          <p:cNvPr id="6" name="Text 4"/>
          <p:cNvSpPr/>
          <p:nvPr/>
        </p:nvSpPr>
        <p:spPr>
          <a:xfrm>
            <a:off x="1142979" y="2819259"/>
            <a:ext cx="1760222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SHORTEST ACCEPTING DISTANCE FROM EACH STATE</a:t>
            </a:r>
            <a:endParaRPr lang="en-US" sz="1800" dirty="0"/>
          </a:p>
        </p:txBody>
      </p:sp>
      <p:sp>
        <p:nvSpPr>
          <p:cNvPr id="7" name="Shape 5"/>
          <p:cNvSpPr/>
          <p:nvPr/>
        </p:nvSpPr>
        <p:spPr>
          <a:xfrm>
            <a:off x="1142979" y="3364032"/>
            <a:ext cx="977925" cy="1257288"/>
          </a:xfrm>
          <a:prstGeom prst="rect">
            <a:avLst/>
          </a:prstGeom>
          <a:ln w="13229">
            <a:solidFill>
              <a:srgbClr val="201E1D"/>
            </a:solidFill>
            <a:prstDash val="solid"/>
          </a:ln>
        </p:spPr>
      </p:sp>
      <p:sp>
        <p:nvSpPr>
          <p:cNvPr id="8" name="Text 6"/>
          <p:cNvSpPr/>
          <p:nvPr/>
        </p:nvSpPr>
        <p:spPr>
          <a:xfrm>
            <a:off x="1483010" y="3462217"/>
            <a:ext cx="37396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D0</a:t>
            </a:r>
            <a:endParaRPr lang="en-US" sz="1800" dirty="0"/>
          </a:p>
        </p:txBody>
      </p:sp>
      <p:sp>
        <p:nvSpPr>
          <p:cNvPr id="9" name="Text 7"/>
          <p:cNvSpPr/>
          <p:nvPr/>
        </p:nvSpPr>
        <p:spPr>
          <a:xfrm>
            <a:off x="1392163" y="3873562"/>
            <a:ext cx="555654"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13</a:t>
            </a:r>
            <a:endParaRPr lang="en-US" sz="3300" dirty="0"/>
          </a:p>
        </p:txBody>
      </p:sp>
      <p:sp>
        <p:nvSpPr>
          <p:cNvPr id="10" name="Shape 8"/>
          <p:cNvSpPr/>
          <p:nvPr/>
        </p:nvSpPr>
        <p:spPr>
          <a:xfrm>
            <a:off x="2216092" y="3364032"/>
            <a:ext cx="977925" cy="1257288"/>
          </a:xfrm>
          <a:prstGeom prst="rect">
            <a:avLst/>
          </a:prstGeom>
          <a:ln w="13229">
            <a:solidFill>
              <a:srgbClr val="201E1D"/>
            </a:solidFill>
            <a:prstDash val="solid"/>
          </a:ln>
        </p:spPr>
      </p:sp>
      <p:sp>
        <p:nvSpPr>
          <p:cNvPr id="11" name="Text 9"/>
          <p:cNvSpPr/>
          <p:nvPr/>
        </p:nvSpPr>
        <p:spPr>
          <a:xfrm>
            <a:off x="2556020" y="3462217"/>
            <a:ext cx="3742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D1</a:t>
            </a:r>
            <a:endParaRPr lang="en-US" sz="1800" dirty="0"/>
          </a:p>
        </p:txBody>
      </p:sp>
      <p:sp>
        <p:nvSpPr>
          <p:cNvPr id="12" name="Text 10"/>
          <p:cNvSpPr/>
          <p:nvPr/>
        </p:nvSpPr>
        <p:spPr>
          <a:xfrm>
            <a:off x="2465276" y="3873562"/>
            <a:ext cx="555654"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12</a:t>
            </a:r>
            <a:endParaRPr lang="en-US" sz="3300" dirty="0"/>
          </a:p>
        </p:txBody>
      </p:sp>
      <p:sp>
        <p:nvSpPr>
          <p:cNvPr id="13" name="Shape 11"/>
          <p:cNvSpPr/>
          <p:nvPr/>
        </p:nvSpPr>
        <p:spPr>
          <a:xfrm>
            <a:off x="3289205" y="3364032"/>
            <a:ext cx="977925" cy="1257288"/>
          </a:xfrm>
          <a:prstGeom prst="rect">
            <a:avLst/>
          </a:prstGeom>
          <a:ln w="13229">
            <a:solidFill>
              <a:srgbClr val="201E1D"/>
            </a:solidFill>
            <a:prstDash val="solid"/>
          </a:ln>
        </p:spPr>
      </p:sp>
      <p:sp>
        <p:nvSpPr>
          <p:cNvPr id="14" name="Text 12"/>
          <p:cNvSpPr/>
          <p:nvPr/>
        </p:nvSpPr>
        <p:spPr>
          <a:xfrm>
            <a:off x="3629132" y="3462217"/>
            <a:ext cx="3742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D2</a:t>
            </a:r>
            <a:endParaRPr lang="en-US" sz="1800" dirty="0"/>
          </a:p>
        </p:txBody>
      </p:sp>
      <p:sp>
        <p:nvSpPr>
          <p:cNvPr id="15" name="Text 13"/>
          <p:cNvSpPr/>
          <p:nvPr/>
        </p:nvSpPr>
        <p:spPr>
          <a:xfrm>
            <a:off x="3538389" y="3873562"/>
            <a:ext cx="555654"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11</a:t>
            </a:r>
            <a:endParaRPr lang="en-US" sz="3300" dirty="0"/>
          </a:p>
        </p:txBody>
      </p:sp>
      <p:sp>
        <p:nvSpPr>
          <p:cNvPr id="16" name="Shape 14"/>
          <p:cNvSpPr/>
          <p:nvPr/>
        </p:nvSpPr>
        <p:spPr>
          <a:xfrm>
            <a:off x="4362317" y="3364032"/>
            <a:ext cx="978028" cy="1257288"/>
          </a:xfrm>
          <a:prstGeom prst="rect">
            <a:avLst/>
          </a:prstGeom>
          <a:ln w="13229">
            <a:solidFill>
              <a:srgbClr val="201E1D"/>
            </a:solidFill>
            <a:prstDash val="solid"/>
          </a:ln>
        </p:spPr>
      </p:sp>
      <p:sp>
        <p:nvSpPr>
          <p:cNvPr id="17" name="Text 15"/>
          <p:cNvSpPr/>
          <p:nvPr/>
        </p:nvSpPr>
        <p:spPr>
          <a:xfrm>
            <a:off x="4702245" y="3462217"/>
            <a:ext cx="3742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D3</a:t>
            </a:r>
            <a:endParaRPr lang="en-US" sz="1800" dirty="0"/>
          </a:p>
        </p:txBody>
      </p:sp>
      <p:sp>
        <p:nvSpPr>
          <p:cNvPr id="18" name="Text 16"/>
          <p:cNvSpPr/>
          <p:nvPr/>
        </p:nvSpPr>
        <p:spPr>
          <a:xfrm>
            <a:off x="4611605" y="3873562"/>
            <a:ext cx="555654"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10</a:t>
            </a:r>
            <a:endParaRPr lang="en-US" sz="3300" dirty="0"/>
          </a:p>
        </p:txBody>
      </p:sp>
      <p:sp>
        <p:nvSpPr>
          <p:cNvPr id="19" name="Shape 17"/>
          <p:cNvSpPr/>
          <p:nvPr/>
        </p:nvSpPr>
        <p:spPr>
          <a:xfrm>
            <a:off x="5435534" y="3364032"/>
            <a:ext cx="977925" cy="1257288"/>
          </a:xfrm>
          <a:prstGeom prst="rect">
            <a:avLst/>
          </a:prstGeom>
          <a:ln w="13229">
            <a:solidFill>
              <a:srgbClr val="201E1D"/>
            </a:solidFill>
            <a:prstDash val="solid"/>
          </a:ln>
        </p:spPr>
      </p:sp>
      <p:sp>
        <p:nvSpPr>
          <p:cNvPr id="20" name="Text 18"/>
          <p:cNvSpPr/>
          <p:nvPr/>
        </p:nvSpPr>
        <p:spPr>
          <a:xfrm>
            <a:off x="5775358" y="3462217"/>
            <a:ext cx="374476"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D4</a:t>
            </a:r>
            <a:endParaRPr lang="en-US" sz="1800" dirty="0"/>
          </a:p>
        </p:txBody>
      </p:sp>
      <p:sp>
        <p:nvSpPr>
          <p:cNvPr id="21" name="Text 19"/>
          <p:cNvSpPr/>
          <p:nvPr/>
        </p:nvSpPr>
        <p:spPr>
          <a:xfrm>
            <a:off x="5804607"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9</a:t>
            </a:r>
            <a:endParaRPr lang="en-US" sz="3300" dirty="0"/>
          </a:p>
        </p:txBody>
      </p:sp>
      <p:sp>
        <p:nvSpPr>
          <p:cNvPr id="22" name="Shape 20"/>
          <p:cNvSpPr/>
          <p:nvPr/>
        </p:nvSpPr>
        <p:spPr>
          <a:xfrm>
            <a:off x="6508646" y="3364032"/>
            <a:ext cx="977925" cy="1257288"/>
          </a:xfrm>
          <a:prstGeom prst="rect">
            <a:avLst/>
          </a:prstGeom>
          <a:ln w="13229">
            <a:solidFill>
              <a:srgbClr val="201E1D"/>
            </a:solidFill>
            <a:prstDash val="solid"/>
          </a:ln>
        </p:spPr>
      </p:sp>
      <p:sp>
        <p:nvSpPr>
          <p:cNvPr id="23" name="Text 21"/>
          <p:cNvSpPr/>
          <p:nvPr/>
        </p:nvSpPr>
        <p:spPr>
          <a:xfrm>
            <a:off x="6848677" y="3462217"/>
            <a:ext cx="37396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D5</a:t>
            </a:r>
            <a:endParaRPr lang="en-US" sz="1800" dirty="0"/>
          </a:p>
        </p:txBody>
      </p:sp>
      <p:sp>
        <p:nvSpPr>
          <p:cNvPr id="24" name="Text 22"/>
          <p:cNvSpPr/>
          <p:nvPr/>
        </p:nvSpPr>
        <p:spPr>
          <a:xfrm>
            <a:off x="6877720"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8</a:t>
            </a:r>
            <a:endParaRPr lang="en-US" sz="3300" dirty="0"/>
          </a:p>
        </p:txBody>
      </p:sp>
      <p:sp>
        <p:nvSpPr>
          <p:cNvPr id="25" name="Shape 23"/>
          <p:cNvSpPr/>
          <p:nvPr/>
        </p:nvSpPr>
        <p:spPr>
          <a:xfrm>
            <a:off x="7581759" y="3364032"/>
            <a:ext cx="978028" cy="1257288"/>
          </a:xfrm>
          <a:prstGeom prst="rect">
            <a:avLst/>
          </a:prstGeom>
          <a:ln w="13229">
            <a:solidFill>
              <a:srgbClr val="201E1D"/>
            </a:solidFill>
            <a:prstDash val="solid"/>
          </a:ln>
        </p:spPr>
      </p:sp>
      <p:sp>
        <p:nvSpPr>
          <p:cNvPr id="26" name="Text 24"/>
          <p:cNvSpPr/>
          <p:nvPr/>
        </p:nvSpPr>
        <p:spPr>
          <a:xfrm>
            <a:off x="7921687" y="3462217"/>
            <a:ext cx="3742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D6</a:t>
            </a:r>
            <a:endParaRPr lang="en-US" sz="1800" dirty="0"/>
          </a:p>
        </p:txBody>
      </p:sp>
      <p:sp>
        <p:nvSpPr>
          <p:cNvPr id="27" name="Text 25"/>
          <p:cNvSpPr/>
          <p:nvPr/>
        </p:nvSpPr>
        <p:spPr>
          <a:xfrm>
            <a:off x="7950832"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7</a:t>
            </a:r>
            <a:endParaRPr lang="en-US" sz="3300" dirty="0"/>
          </a:p>
        </p:txBody>
      </p:sp>
      <p:sp>
        <p:nvSpPr>
          <p:cNvPr id="28" name="Shape 26"/>
          <p:cNvSpPr/>
          <p:nvPr/>
        </p:nvSpPr>
        <p:spPr>
          <a:xfrm>
            <a:off x="8654975" y="3364032"/>
            <a:ext cx="977925" cy="1257288"/>
          </a:xfrm>
          <a:prstGeom prst="rect">
            <a:avLst/>
          </a:prstGeom>
          <a:ln w="13229">
            <a:solidFill>
              <a:srgbClr val="201E1D"/>
            </a:solidFill>
            <a:prstDash val="solid"/>
          </a:ln>
        </p:spPr>
      </p:sp>
      <p:sp>
        <p:nvSpPr>
          <p:cNvPr id="29" name="Text 27"/>
          <p:cNvSpPr/>
          <p:nvPr/>
        </p:nvSpPr>
        <p:spPr>
          <a:xfrm>
            <a:off x="8994903" y="3462217"/>
            <a:ext cx="3742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D7</a:t>
            </a:r>
            <a:endParaRPr lang="en-US" sz="1800" dirty="0"/>
          </a:p>
        </p:txBody>
      </p:sp>
      <p:sp>
        <p:nvSpPr>
          <p:cNvPr id="30" name="Text 28"/>
          <p:cNvSpPr/>
          <p:nvPr/>
        </p:nvSpPr>
        <p:spPr>
          <a:xfrm>
            <a:off x="9024049"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6</a:t>
            </a:r>
            <a:endParaRPr lang="en-US" sz="3300" dirty="0"/>
          </a:p>
        </p:txBody>
      </p:sp>
      <p:sp>
        <p:nvSpPr>
          <p:cNvPr id="31" name="Shape 29"/>
          <p:cNvSpPr/>
          <p:nvPr/>
        </p:nvSpPr>
        <p:spPr>
          <a:xfrm>
            <a:off x="9728088" y="3364032"/>
            <a:ext cx="977925" cy="1257288"/>
          </a:xfrm>
          <a:prstGeom prst="rect">
            <a:avLst/>
          </a:prstGeom>
          <a:ln w="13229">
            <a:solidFill>
              <a:srgbClr val="201E1D"/>
            </a:solidFill>
            <a:prstDash val="solid"/>
          </a:ln>
        </p:spPr>
      </p:sp>
      <p:sp>
        <p:nvSpPr>
          <p:cNvPr id="32" name="Text 30"/>
          <p:cNvSpPr/>
          <p:nvPr/>
        </p:nvSpPr>
        <p:spPr>
          <a:xfrm>
            <a:off x="10068016" y="3462217"/>
            <a:ext cx="3742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D8</a:t>
            </a:r>
            <a:endParaRPr lang="en-US" sz="1800" dirty="0"/>
          </a:p>
        </p:txBody>
      </p:sp>
      <p:sp>
        <p:nvSpPr>
          <p:cNvPr id="33" name="Text 31"/>
          <p:cNvSpPr/>
          <p:nvPr/>
        </p:nvSpPr>
        <p:spPr>
          <a:xfrm>
            <a:off x="10097162"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5</a:t>
            </a:r>
            <a:endParaRPr lang="en-US" sz="3300" dirty="0"/>
          </a:p>
        </p:txBody>
      </p:sp>
      <p:sp>
        <p:nvSpPr>
          <p:cNvPr id="34" name="Shape 32"/>
          <p:cNvSpPr/>
          <p:nvPr/>
        </p:nvSpPr>
        <p:spPr>
          <a:xfrm>
            <a:off x="10801201" y="3364032"/>
            <a:ext cx="978028" cy="1257288"/>
          </a:xfrm>
          <a:prstGeom prst="rect">
            <a:avLst/>
          </a:prstGeom>
          <a:ln w="13229">
            <a:solidFill>
              <a:srgbClr val="201E1D"/>
            </a:solidFill>
            <a:prstDash val="solid"/>
          </a:ln>
        </p:spPr>
      </p:sp>
      <p:sp>
        <p:nvSpPr>
          <p:cNvPr id="35" name="Text 33"/>
          <p:cNvSpPr/>
          <p:nvPr/>
        </p:nvSpPr>
        <p:spPr>
          <a:xfrm>
            <a:off x="11141335" y="3462217"/>
            <a:ext cx="37396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D9</a:t>
            </a:r>
            <a:endParaRPr lang="en-US" sz="1800" dirty="0"/>
          </a:p>
        </p:txBody>
      </p:sp>
      <p:sp>
        <p:nvSpPr>
          <p:cNvPr id="36" name="Text 34"/>
          <p:cNvSpPr/>
          <p:nvPr/>
        </p:nvSpPr>
        <p:spPr>
          <a:xfrm>
            <a:off x="11170274"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4</a:t>
            </a:r>
            <a:endParaRPr lang="en-US" sz="3300" dirty="0"/>
          </a:p>
        </p:txBody>
      </p:sp>
      <p:sp>
        <p:nvSpPr>
          <p:cNvPr id="37" name="Shape 35"/>
          <p:cNvSpPr/>
          <p:nvPr/>
        </p:nvSpPr>
        <p:spPr>
          <a:xfrm>
            <a:off x="11874417" y="3364032"/>
            <a:ext cx="977925" cy="1257288"/>
          </a:xfrm>
          <a:prstGeom prst="rect">
            <a:avLst/>
          </a:prstGeom>
          <a:ln w="13229">
            <a:solidFill>
              <a:srgbClr val="201E1D"/>
            </a:solidFill>
            <a:prstDash val="solid"/>
          </a:ln>
        </p:spPr>
      </p:sp>
      <p:sp>
        <p:nvSpPr>
          <p:cNvPr id="38" name="Text 36"/>
          <p:cNvSpPr/>
          <p:nvPr/>
        </p:nvSpPr>
        <p:spPr>
          <a:xfrm>
            <a:off x="12148612" y="3462217"/>
            <a:ext cx="50563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D10</a:t>
            </a:r>
            <a:endParaRPr lang="en-US" sz="1800" dirty="0"/>
          </a:p>
        </p:txBody>
      </p:sp>
      <p:sp>
        <p:nvSpPr>
          <p:cNvPr id="39" name="Text 37"/>
          <p:cNvSpPr/>
          <p:nvPr/>
        </p:nvSpPr>
        <p:spPr>
          <a:xfrm>
            <a:off x="12243490"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3</a:t>
            </a:r>
            <a:endParaRPr lang="en-US" sz="3300" dirty="0"/>
          </a:p>
        </p:txBody>
      </p:sp>
      <p:sp>
        <p:nvSpPr>
          <p:cNvPr id="40" name="Shape 38"/>
          <p:cNvSpPr/>
          <p:nvPr/>
        </p:nvSpPr>
        <p:spPr>
          <a:xfrm>
            <a:off x="12947529" y="3364032"/>
            <a:ext cx="977925" cy="1257288"/>
          </a:xfrm>
          <a:prstGeom prst="rect">
            <a:avLst/>
          </a:prstGeom>
          <a:ln w="13229">
            <a:solidFill>
              <a:srgbClr val="201E1D"/>
            </a:solidFill>
            <a:prstDash val="solid"/>
          </a:ln>
        </p:spPr>
      </p:sp>
      <p:sp>
        <p:nvSpPr>
          <p:cNvPr id="41" name="Text 39"/>
          <p:cNvSpPr/>
          <p:nvPr/>
        </p:nvSpPr>
        <p:spPr>
          <a:xfrm>
            <a:off x="13221621" y="3462217"/>
            <a:ext cx="50583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D11</a:t>
            </a:r>
            <a:endParaRPr lang="en-US" sz="1800" dirty="0"/>
          </a:p>
        </p:txBody>
      </p:sp>
      <p:sp>
        <p:nvSpPr>
          <p:cNvPr id="42" name="Text 40"/>
          <p:cNvSpPr/>
          <p:nvPr/>
        </p:nvSpPr>
        <p:spPr>
          <a:xfrm>
            <a:off x="13316602"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2</a:t>
            </a:r>
            <a:endParaRPr lang="en-US" sz="3300" dirty="0"/>
          </a:p>
        </p:txBody>
      </p:sp>
      <p:sp>
        <p:nvSpPr>
          <p:cNvPr id="43" name="Shape 41"/>
          <p:cNvSpPr/>
          <p:nvPr/>
        </p:nvSpPr>
        <p:spPr>
          <a:xfrm>
            <a:off x="14020642" y="3364032"/>
            <a:ext cx="978028" cy="1257288"/>
          </a:xfrm>
          <a:prstGeom prst="rect">
            <a:avLst/>
          </a:prstGeom>
          <a:ln w="13229">
            <a:solidFill>
              <a:srgbClr val="201E1D"/>
            </a:solidFill>
            <a:prstDash val="solid"/>
          </a:ln>
        </p:spPr>
      </p:sp>
      <p:sp>
        <p:nvSpPr>
          <p:cNvPr id="44" name="Text 42"/>
          <p:cNvSpPr/>
          <p:nvPr/>
        </p:nvSpPr>
        <p:spPr>
          <a:xfrm>
            <a:off x="14294838" y="3462217"/>
            <a:ext cx="50583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201E1D"/>
                </a:solidFill>
                <a:latin typeface="Arial" pitchFamily="34" charset="0"/>
                <a:ea typeface="Arial" pitchFamily="34" charset="-122"/>
                <a:cs typeface="Arial" pitchFamily="34" charset="-120"/>
              </a:rPr>
              <a:t>D12</a:t>
            </a:r>
            <a:endParaRPr lang="en-US" sz="1800" dirty="0"/>
          </a:p>
        </p:txBody>
      </p:sp>
      <p:sp>
        <p:nvSpPr>
          <p:cNvPr id="45" name="Text 43"/>
          <p:cNvSpPr/>
          <p:nvPr/>
        </p:nvSpPr>
        <p:spPr>
          <a:xfrm>
            <a:off x="14389716"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201E1D"/>
                </a:solidFill>
                <a:latin typeface="Arial" pitchFamily="34" charset="0"/>
                <a:ea typeface="Arial" pitchFamily="34" charset="-122"/>
                <a:cs typeface="Arial" pitchFamily="34" charset="-120"/>
              </a:rPr>
              <a:t>1</a:t>
            </a:r>
            <a:endParaRPr lang="en-US" sz="3300" dirty="0"/>
          </a:p>
        </p:txBody>
      </p:sp>
      <p:sp>
        <p:nvSpPr>
          <p:cNvPr id="46" name="Shape 44"/>
          <p:cNvSpPr/>
          <p:nvPr/>
        </p:nvSpPr>
        <p:spPr>
          <a:xfrm>
            <a:off x="15093859" y="3364032"/>
            <a:ext cx="977925" cy="1257288"/>
          </a:xfrm>
          <a:prstGeom prst="rect">
            <a:avLst/>
          </a:prstGeom>
          <a:solidFill>
            <a:srgbClr val="201E1D"/>
          </a:solidFill>
          <a:ln w="13229">
            <a:solidFill>
              <a:srgbClr val="201E1D"/>
            </a:solidFill>
            <a:prstDash val="solid"/>
          </a:ln>
        </p:spPr>
      </p:sp>
      <p:sp>
        <p:nvSpPr>
          <p:cNvPr id="47" name="Text 45"/>
          <p:cNvSpPr/>
          <p:nvPr/>
        </p:nvSpPr>
        <p:spPr>
          <a:xfrm>
            <a:off x="15367950" y="3462217"/>
            <a:ext cx="50583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F3F2F2"/>
                </a:solidFill>
                <a:latin typeface="Arial" pitchFamily="34" charset="0"/>
                <a:ea typeface="Arial" pitchFamily="34" charset="-122"/>
                <a:cs typeface="Arial" pitchFamily="34" charset="-120"/>
              </a:rPr>
              <a:t>D13</a:t>
            </a:r>
            <a:endParaRPr lang="en-US" sz="1800" dirty="0"/>
          </a:p>
        </p:txBody>
      </p:sp>
      <p:sp>
        <p:nvSpPr>
          <p:cNvPr id="48" name="Text 46"/>
          <p:cNvSpPr/>
          <p:nvPr/>
        </p:nvSpPr>
        <p:spPr>
          <a:xfrm>
            <a:off x="15462932" y="3873562"/>
            <a:ext cx="315979"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F3F2F2"/>
                </a:solidFill>
                <a:latin typeface="Arial" pitchFamily="34" charset="0"/>
                <a:ea typeface="Arial" pitchFamily="34" charset="-122"/>
                <a:cs typeface="Arial" pitchFamily="34" charset="-120"/>
              </a:rPr>
              <a:t>0</a:t>
            </a:r>
            <a:endParaRPr lang="en-US" sz="3300" dirty="0"/>
          </a:p>
        </p:txBody>
      </p:sp>
      <p:sp>
        <p:nvSpPr>
          <p:cNvPr id="49" name="Shape 47"/>
          <p:cNvSpPr/>
          <p:nvPr/>
        </p:nvSpPr>
        <p:spPr>
          <a:xfrm>
            <a:off x="16166971" y="3364032"/>
            <a:ext cx="977925" cy="1257288"/>
          </a:xfrm>
          <a:prstGeom prst="rect">
            <a:avLst/>
          </a:prstGeom>
          <a:ln w="13229">
            <a:solidFill>
              <a:srgbClr val="EC3013"/>
            </a:solidFill>
            <a:prstDash val="dash"/>
          </a:ln>
        </p:spPr>
      </p:sp>
      <p:sp>
        <p:nvSpPr>
          <p:cNvPr id="50" name="Text 48"/>
          <p:cNvSpPr/>
          <p:nvPr/>
        </p:nvSpPr>
        <p:spPr>
          <a:xfrm>
            <a:off x="16448608" y="3462217"/>
            <a:ext cx="490748"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b="1" dirty="0">
                <a:solidFill>
                  <a:srgbClr val="AE1800"/>
                </a:solidFill>
                <a:latin typeface="Arial" pitchFamily="34" charset="0"/>
                <a:ea typeface="Arial" pitchFamily="34" charset="-122"/>
                <a:cs typeface="Arial" pitchFamily="34" charset="-120"/>
              </a:rPr>
              <a:t>trap</a:t>
            </a:r>
            <a:endParaRPr lang="en-US" sz="1800" dirty="0"/>
          </a:p>
        </p:txBody>
      </p:sp>
      <p:sp>
        <p:nvSpPr>
          <p:cNvPr id="51" name="Text 49"/>
          <p:cNvSpPr/>
          <p:nvPr/>
        </p:nvSpPr>
        <p:spPr>
          <a:xfrm>
            <a:off x="16506485" y="3873562"/>
            <a:ext cx="374993" cy="687673"/>
          </a:xfrm>
          <a:prstGeom prst="rect">
            <a:avLst/>
          </a:prstGeom>
          <a:noFill/>
          <a:ln/>
        </p:spPr>
        <p:txBody>
          <a:bodyPr wrap="square" lIns="25400" tIns="25400" rIns="25400" bIns="25400" rtlCol="0" anchor="t">
            <a:normAutofit/>
          </a:bodyPr>
          <a:lstStyle/>
          <a:p>
            <a:pPr algn="l" indent="0" marL="0">
              <a:lnSpc>
                <a:spcPct val="136400"/>
              </a:lnSpc>
              <a:buNone/>
            </a:pPr>
            <a:r>
              <a:rPr lang="en-US" sz="3300" b="1" dirty="0">
                <a:solidFill>
                  <a:srgbClr val="AE1800"/>
                </a:solidFill>
                <a:latin typeface="Arial" pitchFamily="34" charset="0"/>
                <a:ea typeface="Arial" pitchFamily="34" charset="-122"/>
                <a:cs typeface="Arial" pitchFamily="34" charset="-120"/>
              </a:rPr>
              <a:t>∞</a:t>
            </a:r>
            <a:endParaRPr lang="en-US" sz="3300" dirty="0"/>
          </a:p>
        </p:txBody>
      </p:sp>
      <p:sp>
        <p:nvSpPr>
          <p:cNvPr id="52" name="Shape 50"/>
          <p:cNvSpPr/>
          <p:nvPr/>
        </p:nvSpPr>
        <p:spPr>
          <a:xfrm>
            <a:off x="1142979" y="5230895"/>
            <a:ext cx="7543828" cy="13229"/>
          </a:xfrm>
          <a:prstGeom prst="rect">
            <a:avLst/>
          </a:prstGeom>
          <a:solidFill>
            <a:srgbClr val="201E1D"/>
          </a:solidFill>
          <a:ln/>
        </p:spPr>
      </p:sp>
      <p:sp>
        <p:nvSpPr>
          <p:cNvPr id="53" name="Text 51"/>
          <p:cNvSpPr/>
          <p:nvPr/>
        </p:nvSpPr>
        <p:spPr>
          <a:xfrm>
            <a:off x="1142979" y="5415483"/>
            <a:ext cx="829821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MOORE PARTITION REFINEMENT</a:t>
            </a:r>
            <a:endParaRPr lang="en-US" sz="1800" dirty="0"/>
          </a:p>
        </p:txBody>
      </p:sp>
      <p:sp>
        <p:nvSpPr>
          <p:cNvPr id="54" name="Text 52"/>
          <p:cNvSpPr/>
          <p:nvPr/>
        </p:nvSpPr>
        <p:spPr>
          <a:xfrm>
            <a:off x="1142979" y="5941136"/>
            <a:ext cx="7770143" cy="523858"/>
          </a:xfrm>
          <a:prstGeom prst="rect">
            <a:avLst/>
          </a:prstGeom>
          <a:noFill/>
          <a:ln/>
        </p:spPr>
        <p:txBody>
          <a:bodyPr wrap="square" lIns="25400" tIns="25400" rIns="25400" bIns="25400" rtlCol="0" anchor="t">
            <a:normAutofit/>
          </a:bodyPr>
          <a:lstStyle/>
          <a:p>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P</a:t>
            </a:r>
            <a:pPr algn="l" indent="0" marL="0">
              <a:lnSpc>
                <a:spcPct val="136653"/>
              </a:lnSpc>
              <a:buNone/>
            </a:pPr>
            <a:r>
              <a:rPr lang="en-US" sz="1875" baseline="-40000" spc="22" kern="0" dirty="0">
                <a:solidFill>
                  <a:srgbClr val="201E1D"/>
                </a:solidFill>
                <a:latin typeface="Arial" pitchFamily="34" charset="0"/>
                <a:ea typeface="Arial" pitchFamily="34" charset="-122"/>
                <a:cs typeface="Arial" pitchFamily="34" charset="-120"/>
              </a:rPr>
              <a:t>0 </a:t>
            </a:r>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 { {D13}, {D0, …, D12, Dtrap} }</a:t>
            </a:r>
            <a:endParaRPr lang="en-US" sz="2250" dirty="0"/>
          </a:p>
        </p:txBody>
      </p:sp>
      <p:sp>
        <p:nvSpPr>
          <p:cNvPr id="55" name="Text 53"/>
          <p:cNvSpPr/>
          <p:nvPr/>
        </p:nvSpPr>
        <p:spPr>
          <a:xfrm>
            <a:off x="1142979" y="6598253"/>
            <a:ext cx="7770143" cy="523858"/>
          </a:xfrm>
          <a:prstGeom prst="rect">
            <a:avLst/>
          </a:prstGeom>
          <a:noFill/>
          <a:ln/>
        </p:spPr>
        <p:txBody>
          <a:bodyPr wrap="square" lIns="25400" tIns="25400" rIns="25400" bIns="25400" rtlCol="0" anchor="t">
            <a:normAutofit/>
          </a:bodyPr>
          <a:lstStyle/>
          <a:p>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P</a:t>
            </a:r>
            <a:pPr algn="l" indent="0" marL="0">
              <a:lnSpc>
                <a:spcPct val="136653"/>
              </a:lnSpc>
              <a:buNone/>
            </a:pPr>
            <a:r>
              <a:rPr lang="en-US" sz="1875" baseline="-40000" spc="22" kern="0" dirty="0">
                <a:solidFill>
                  <a:srgbClr val="201E1D"/>
                </a:solidFill>
                <a:latin typeface="Arial" pitchFamily="34" charset="0"/>
                <a:ea typeface="Arial" pitchFamily="34" charset="-122"/>
                <a:cs typeface="Arial" pitchFamily="34" charset="-120"/>
              </a:rPr>
              <a:t>0 </a:t>
            </a:r>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 P</a:t>
            </a:r>
            <a:pPr algn="l" indent="0" marL="0">
              <a:lnSpc>
                <a:spcPct val="136653"/>
              </a:lnSpc>
              <a:buNone/>
            </a:pPr>
            <a:r>
              <a:rPr lang="en-US" sz="1875" baseline="-40000" spc="22" kern="0" dirty="0">
                <a:solidFill>
                  <a:srgbClr val="201E1D"/>
                </a:solidFill>
                <a:latin typeface="Arial" pitchFamily="34" charset="0"/>
                <a:ea typeface="Arial" pitchFamily="34" charset="-122"/>
                <a:cs typeface="Arial" pitchFamily="34" charset="-120"/>
              </a:rPr>
              <a:t>1 </a:t>
            </a:r>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 … → P</a:t>
            </a:r>
            <a:pPr algn="l" indent="0" marL="0">
              <a:lnSpc>
                <a:spcPct val="136653"/>
              </a:lnSpc>
              <a:buNone/>
            </a:pPr>
            <a:r>
              <a:rPr lang="en-US" sz="1875" baseline="-40000" spc="22" kern="0" dirty="0">
                <a:solidFill>
                  <a:srgbClr val="201E1D"/>
                </a:solidFill>
                <a:latin typeface="Arial" pitchFamily="34" charset="0"/>
                <a:ea typeface="Arial" pitchFamily="34" charset="-122"/>
                <a:cs typeface="Arial" pitchFamily="34" charset="-120"/>
              </a:rPr>
              <a:t>13 </a:t>
            </a:r>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 13 rounds</a:t>
            </a:r>
            <a:endParaRPr lang="en-US" sz="2250" dirty="0"/>
          </a:p>
        </p:txBody>
      </p:sp>
      <p:sp>
        <p:nvSpPr>
          <p:cNvPr id="56" name="Text 54"/>
          <p:cNvSpPr/>
          <p:nvPr/>
        </p:nvSpPr>
        <p:spPr>
          <a:xfrm>
            <a:off x="1142979" y="7255371"/>
            <a:ext cx="7770143" cy="523858"/>
          </a:xfrm>
          <a:prstGeom prst="rect">
            <a:avLst/>
          </a:prstGeom>
          <a:noFill/>
          <a:ln/>
        </p:spPr>
        <p:txBody>
          <a:bodyPr wrap="square" lIns="25400" tIns="25400" rIns="25400" bIns="25400" rtlCol="0" anchor="t">
            <a:normAutofit/>
          </a:bodyPr>
          <a:lstStyle/>
          <a:p>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d(D</a:t>
            </a:r>
            <a:pPr algn="l" indent="0" marL="0">
              <a:lnSpc>
                <a:spcPct val="136653"/>
              </a:lnSpc>
              <a:buNone/>
            </a:pPr>
            <a:r>
              <a:rPr lang="en-US" sz="1875" baseline="-40000" spc="22" kern="0" dirty="0">
                <a:solidFill>
                  <a:srgbClr val="201E1D"/>
                </a:solidFill>
                <a:latin typeface="Arial" pitchFamily="34" charset="0"/>
                <a:ea typeface="Arial" pitchFamily="34" charset="-122"/>
                <a:cs typeface="Arial" pitchFamily="34" charset="-120"/>
              </a:rPr>
              <a:t>i</a:t>
            </a:r>
            <a:pPr algn="l" indent="0" marL="0">
              <a:lnSpc>
                <a:spcPct val="136653"/>
              </a:lnSpc>
              <a:buNone/>
            </a:pPr>
            <a:r>
              <a:rPr lang="en-US" sz="2250" spc="22" kern="0" dirty="0">
                <a:solidFill>
                  <a:srgbClr val="201E1D"/>
                </a:solidFill>
                <a:latin typeface="Arial" pitchFamily="34" charset="0"/>
                <a:ea typeface="Arial" pitchFamily="34" charset="-122"/>
                <a:cs typeface="Arial" pitchFamily="34" charset="-120"/>
              </a:rPr>
              <a:t>, F) = 13 − i · all distinct</a:t>
            </a:r>
            <a:endParaRPr lang="en-US" sz="2250" dirty="0"/>
          </a:p>
        </p:txBody>
      </p:sp>
      <p:sp>
        <p:nvSpPr>
          <p:cNvPr id="57" name="Shape 55"/>
          <p:cNvSpPr/>
          <p:nvPr/>
        </p:nvSpPr>
        <p:spPr>
          <a:xfrm>
            <a:off x="9601171" y="5230895"/>
            <a:ext cx="7543828" cy="13229"/>
          </a:xfrm>
          <a:prstGeom prst="rect">
            <a:avLst/>
          </a:prstGeom>
          <a:solidFill>
            <a:srgbClr val="201E1D"/>
          </a:solidFill>
          <a:ln/>
        </p:spPr>
      </p:sp>
      <p:sp>
        <p:nvSpPr>
          <p:cNvPr id="58" name="Text 56"/>
          <p:cNvSpPr/>
          <p:nvPr/>
        </p:nvSpPr>
        <p:spPr>
          <a:xfrm>
            <a:off x="9601171" y="5415483"/>
            <a:ext cx="829821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RESULT</a:t>
            </a:r>
            <a:endParaRPr lang="en-US" sz="1800" dirty="0"/>
          </a:p>
        </p:txBody>
      </p:sp>
      <p:sp>
        <p:nvSpPr>
          <p:cNvPr id="59" name="Text 57"/>
          <p:cNvSpPr/>
          <p:nvPr/>
        </p:nvSpPr>
        <p:spPr>
          <a:xfrm>
            <a:off x="9601171" y="5941136"/>
            <a:ext cx="4304006" cy="1104908"/>
          </a:xfrm>
          <a:prstGeom prst="rect">
            <a:avLst/>
          </a:prstGeom>
          <a:noFill/>
          <a:ln/>
        </p:spPr>
        <p:txBody>
          <a:bodyPr wrap="square" lIns="25400" tIns="25400" rIns="25400" bIns="25400" rtlCol="0" anchor="t">
            <a:normAutofit/>
          </a:bodyPr>
          <a:lstStyle/>
          <a:p>
            <a:pPr algn="l" indent="0" marL="0">
              <a:lnSpc>
                <a:spcPct val="87178"/>
              </a:lnSpc>
              <a:buNone/>
            </a:pPr>
            <a:r>
              <a:rPr lang="en-US" sz="8400" b="1" spc="-168" kern="0" dirty="0">
                <a:solidFill>
                  <a:srgbClr val="201E1D"/>
                </a:solidFill>
                <a:latin typeface="Arial" pitchFamily="34" charset="0"/>
                <a:ea typeface="Arial" pitchFamily="34" charset="-122"/>
                <a:cs typeface="Arial" pitchFamily="34" charset="-120"/>
              </a:rPr>
              <a:t>15 → 15</a:t>
            </a:r>
            <a:endParaRPr lang="en-US" sz="8400" dirty="0"/>
          </a:p>
        </p:txBody>
      </p:sp>
      <p:sp>
        <p:nvSpPr>
          <p:cNvPr id="60" name="Text 58"/>
          <p:cNvSpPr/>
          <p:nvPr/>
        </p:nvSpPr>
        <p:spPr>
          <a:xfrm>
            <a:off x="13894862" y="6417386"/>
            <a:ext cx="2587087" cy="571504"/>
          </a:xfrm>
          <a:prstGeom prst="rect">
            <a:avLst/>
          </a:prstGeom>
          <a:noFill/>
          <a:ln/>
        </p:spPr>
        <p:txBody>
          <a:bodyPr wrap="square" lIns="25400" tIns="25400" rIns="25400" bIns="25400" rtlCol="0" anchor="t">
            <a:normAutofit/>
          </a:bodyPr>
          <a:lstStyle/>
          <a:p>
            <a:pPr algn="l" indent="0" marL="0">
              <a:lnSpc>
                <a:spcPct val="86710"/>
              </a:lnSpc>
              <a:buNone/>
            </a:pPr>
            <a:r>
              <a:rPr lang="en-US" sz="4200" b="1" spc="-84" kern="0" dirty="0">
                <a:solidFill>
                  <a:srgbClr val="EC3013"/>
                </a:solidFill>
                <a:latin typeface="Arial" pitchFamily="34" charset="0"/>
                <a:ea typeface="Arial" pitchFamily="34" charset="-122"/>
                <a:cs typeface="Arial" pitchFamily="34" charset="-120"/>
              </a:rPr>
              <a:t>0 merges</a:t>
            </a:r>
            <a:endParaRPr lang="en-US" sz="4200" dirty="0"/>
          </a:p>
        </p:txBody>
      </p:sp>
      <p:sp>
        <p:nvSpPr>
          <p:cNvPr id="61" name="Text 59"/>
          <p:cNvSpPr/>
          <p:nvPr/>
        </p:nvSpPr>
        <p:spPr>
          <a:xfrm>
            <a:off x="9601171" y="7179303"/>
            <a:ext cx="7770143"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The subset DFA is already minimal; the optimizer verifies minimality.</a:t>
            </a:r>
            <a:endParaRPr lang="en-US" sz="2100" dirty="0"/>
          </a:p>
        </p:txBody>
      </p:sp>
      <p:pic>
        <p:nvPicPr>
          <p:cNvPr id="62" name="Image 0" descr="preencoded.png">    </p:cNvPr>
          <p:cNvPicPr>
            <a:picLocks noChangeAspect="1"/>
          </p:cNvPicPr>
          <p:nvPr/>
        </p:nvPicPr>
        <p:blipFill>
          <a:blip r:embed="rId1"/>
          <a:stretch>
            <a:fillRect/>
          </a:stretch>
        </p:blipFill>
        <p:spPr>
          <a:xfrm>
            <a:off x="1142979" y="9399323"/>
            <a:ext cx="4698318" cy="3542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174909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07 · STAGE 5</a:t>
            </a:r>
            <a:endParaRPr lang="en-US" sz="1800" dirty="0"/>
          </a:p>
        </p:txBody>
      </p:sp>
      <p:sp>
        <p:nvSpPr>
          <p:cNvPr id="4" name="Text 2"/>
          <p:cNvSpPr/>
          <p:nvPr/>
        </p:nvSpPr>
        <p:spPr>
          <a:xfrm>
            <a:off x="14205954" y="495267"/>
            <a:ext cx="323295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PERITO — TESTER / QA</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Formal and Empirical Verification</a:t>
            </a:r>
            <a:endParaRPr lang="en-US" sz="4800" dirty="0"/>
          </a:p>
        </p:txBody>
      </p:sp>
      <p:sp>
        <p:nvSpPr>
          <p:cNvPr id="6" name="Shape 4"/>
          <p:cNvSpPr/>
          <p:nvPr/>
        </p:nvSpPr>
        <p:spPr>
          <a:xfrm>
            <a:off x="15842753" y="1638246"/>
            <a:ext cx="1302246" cy="768532"/>
          </a:xfrm>
          <a:prstGeom prst="rect">
            <a:avLst/>
          </a:prstGeom>
          <a:solidFill>
            <a:srgbClr val="201E1D"/>
          </a:solidFill>
          <a:ln/>
        </p:spPr>
      </p:sp>
      <p:sp>
        <p:nvSpPr>
          <p:cNvPr id="7" name="Text 5"/>
          <p:cNvSpPr/>
          <p:nvPr/>
        </p:nvSpPr>
        <p:spPr>
          <a:xfrm>
            <a:off x="16071353" y="1771596"/>
            <a:ext cx="921246" cy="539932"/>
          </a:xfrm>
          <a:prstGeom prst="rect">
            <a:avLst/>
          </a:prstGeom>
          <a:noFill/>
          <a:ln/>
        </p:spPr>
        <p:txBody>
          <a:bodyPr wrap="square" lIns="25400" tIns="25400" rIns="25400" bIns="25400" rtlCol="0" anchor="t">
            <a:normAutofit/>
          </a:bodyPr>
          <a:lstStyle/>
          <a:p>
            <a:pPr algn="l" indent="0" marL="0">
              <a:lnSpc>
                <a:spcPct val="135514"/>
              </a:lnSpc>
              <a:buNone/>
            </a:pPr>
            <a:r>
              <a:rPr lang="en-US" sz="2550" b="1" spc="153" kern="0" dirty="0">
                <a:solidFill>
                  <a:srgbClr val="F3F2F2"/>
                </a:solidFill>
                <a:latin typeface="Arial" pitchFamily="34" charset="0"/>
                <a:ea typeface="Arial" pitchFamily="34" charset="-122"/>
                <a:cs typeface="Arial" pitchFamily="34" charset="-120"/>
              </a:rPr>
              <a:t>PASS</a:t>
            </a:r>
            <a:endParaRPr lang="en-US" sz="2550" dirty="0"/>
          </a:p>
        </p:txBody>
      </p:sp>
      <p:sp>
        <p:nvSpPr>
          <p:cNvPr id="8" name="Text 6"/>
          <p:cNvSpPr/>
          <p:nvPr/>
        </p:nvSpPr>
        <p:spPr>
          <a:xfrm>
            <a:off x="1142979" y="2971705"/>
            <a:ext cx="8046733"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FORMAL · PRODUCT-AUTOMATON BFS</a:t>
            </a:r>
            <a:endParaRPr lang="en-US" sz="1800" dirty="0"/>
          </a:p>
        </p:txBody>
      </p:sp>
      <p:sp>
        <p:nvSpPr>
          <p:cNvPr id="9" name="Shape 7"/>
          <p:cNvSpPr/>
          <p:nvPr/>
        </p:nvSpPr>
        <p:spPr>
          <a:xfrm>
            <a:off x="1142979" y="3592649"/>
            <a:ext cx="7315212" cy="13229"/>
          </a:xfrm>
          <a:prstGeom prst="rect">
            <a:avLst/>
          </a:prstGeom>
          <a:solidFill>
            <a:srgbClr val="201E1D"/>
          </a:solidFill>
          <a:ln/>
        </p:spPr>
      </p:sp>
      <p:sp>
        <p:nvSpPr>
          <p:cNvPr id="10" name="Text 8"/>
          <p:cNvSpPr/>
          <p:nvPr/>
        </p:nvSpPr>
        <p:spPr>
          <a:xfrm>
            <a:off x="1142979" y="3777237"/>
            <a:ext cx="7534669" cy="1033388"/>
          </a:xfrm>
          <a:prstGeom prst="rect">
            <a:avLst/>
          </a:prstGeom>
          <a:noFill/>
          <a:ln/>
        </p:spPr>
        <p:txBody>
          <a:bodyPr wrap="square" lIns="25400" tIns="25400" rIns="25400" bIns="25400" rtlCol="0" anchor="t">
            <a:normAutofit/>
          </a:bodyPr>
          <a:lstStyle/>
          <a:p>
            <a:pPr algn="l" indent="0" marL="0">
              <a:lnSpc>
                <a:spcPct val="139636"/>
              </a:lnSpc>
              <a:buNone/>
            </a:pPr>
            <a:r>
              <a:rPr lang="en-US" sz="4500" b="1" spc="45" kern="0" dirty="0">
                <a:solidFill>
                  <a:srgbClr val="201E1D"/>
                </a:solidFill>
                <a:latin typeface="Arial" pitchFamily="34" charset="0"/>
                <a:ea typeface="Arial" pitchFamily="34" charset="-122"/>
                <a:cs typeface="Arial" pitchFamily="34" charset="-120"/>
              </a:rPr>
              <a:t>DFA</a:t>
            </a:r>
            <a:pPr algn="l" indent="0" marL="0">
              <a:lnSpc>
                <a:spcPct val="139636"/>
              </a:lnSpc>
              <a:buNone/>
            </a:pPr>
            <a:r>
              <a:rPr lang="en-US" sz="3750" b="1" baseline="-40000" spc="45" kern="0" dirty="0">
                <a:solidFill>
                  <a:srgbClr val="201E1D"/>
                </a:solidFill>
                <a:latin typeface="Arial" pitchFamily="34" charset="0"/>
                <a:ea typeface="Arial" pitchFamily="34" charset="-122"/>
                <a:cs typeface="Arial" pitchFamily="34" charset="-120"/>
              </a:rPr>
              <a:t>subset </a:t>
            </a:r>
            <a:pPr algn="l" indent="0" marL="0">
              <a:lnSpc>
                <a:spcPct val="139636"/>
              </a:lnSpc>
              <a:buNone/>
            </a:pPr>
            <a:r>
              <a:rPr lang="en-US" sz="4500" b="1" spc="45" kern="0" dirty="0">
                <a:solidFill>
                  <a:srgbClr val="201E1D"/>
                </a:solidFill>
                <a:latin typeface="Arial" pitchFamily="34" charset="0"/>
                <a:ea typeface="Arial" pitchFamily="34" charset="-122"/>
                <a:cs typeface="Arial" pitchFamily="34" charset="-120"/>
              </a:rPr>
              <a:t>× DFA</a:t>
            </a:r>
            <a:pPr algn="l" indent="0" marL="0">
              <a:lnSpc>
                <a:spcPct val="139636"/>
              </a:lnSpc>
              <a:buNone/>
            </a:pPr>
            <a:r>
              <a:rPr lang="en-US" sz="3750" b="1" baseline="-40000" spc="45" kern="0" dirty="0">
                <a:solidFill>
                  <a:srgbClr val="201E1D"/>
                </a:solidFill>
                <a:latin typeface="Arial" pitchFamily="34" charset="0"/>
                <a:ea typeface="Arial" pitchFamily="34" charset="-122"/>
                <a:cs typeface="Arial" pitchFamily="34" charset="-120"/>
              </a:rPr>
              <a:t>minimal</a:t>
            </a:r>
            <a:endParaRPr lang="en-US" sz="4500" dirty="0"/>
          </a:p>
        </p:txBody>
      </p:sp>
      <p:sp>
        <p:nvSpPr>
          <p:cNvPr id="11" name="Text 9"/>
          <p:cNvSpPr/>
          <p:nvPr/>
        </p:nvSpPr>
        <p:spPr>
          <a:xfrm>
            <a:off x="1142979" y="4867713"/>
            <a:ext cx="8046733"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product automaton, explored breadth-first</a:t>
            </a:r>
            <a:endParaRPr lang="en-US" sz="2100" dirty="0"/>
          </a:p>
        </p:txBody>
      </p:sp>
      <p:sp>
        <p:nvSpPr>
          <p:cNvPr id="12" name="Shape 10"/>
          <p:cNvSpPr/>
          <p:nvPr/>
        </p:nvSpPr>
        <p:spPr>
          <a:xfrm>
            <a:off x="1142979" y="5521007"/>
            <a:ext cx="7315212" cy="13229"/>
          </a:xfrm>
          <a:prstGeom prst="rect">
            <a:avLst/>
          </a:prstGeom>
          <a:solidFill>
            <a:srgbClr val="201E1D"/>
          </a:solidFill>
          <a:ln/>
        </p:spPr>
      </p:sp>
      <p:sp>
        <p:nvSpPr>
          <p:cNvPr id="13" name="Text 11"/>
          <p:cNvSpPr/>
          <p:nvPr/>
        </p:nvSpPr>
        <p:spPr>
          <a:xfrm>
            <a:off x="1142979" y="5705595"/>
            <a:ext cx="8046733" cy="952463"/>
          </a:xfrm>
          <a:prstGeom prst="rect">
            <a:avLst/>
          </a:prstGeom>
          <a:noFill/>
          <a:ln/>
        </p:spPr>
        <p:txBody>
          <a:bodyPr wrap="square" lIns="25400" tIns="25400" rIns="25400" bIns="25400" rtlCol="0" anchor="t">
            <a:normAutofit/>
          </a:bodyPr>
          <a:lstStyle/>
          <a:p>
            <a:pPr algn="l" indent="0" marL="0">
              <a:lnSpc>
                <a:spcPct val="86943"/>
              </a:lnSpc>
              <a:buNone/>
            </a:pPr>
            <a:r>
              <a:rPr lang="en-US" sz="7200" b="1" spc="-144" kern="0" dirty="0">
                <a:solidFill>
                  <a:srgbClr val="201E1D"/>
                </a:solidFill>
                <a:latin typeface="Arial" pitchFamily="34" charset="0"/>
                <a:ea typeface="Arial" pitchFamily="34" charset="-122"/>
                <a:cs typeface="Arial" pitchFamily="34" charset="-120"/>
              </a:rPr>
              <a:t>15</a:t>
            </a:r>
            <a:endParaRPr lang="en-US" sz="7200" dirty="0"/>
          </a:p>
        </p:txBody>
      </p:sp>
      <p:sp>
        <p:nvSpPr>
          <p:cNvPr id="14" name="Text 12"/>
          <p:cNvSpPr/>
          <p:nvPr/>
        </p:nvSpPr>
        <p:spPr>
          <a:xfrm>
            <a:off x="1142979" y="6715145"/>
            <a:ext cx="8046733"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reachable state-pairs checked</a:t>
            </a:r>
            <a:endParaRPr lang="en-US" sz="2100" dirty="0"/>
          </a:p>
        </p:txBody>
      </p:sp>
      <p:sp>
        <p:nvSpPr>
          <p:cNvPr id="15" name="Shape 13"/>
          <p:cNvSpPr/>
          <p:nvPr/>
        </p:nvSpPr>
        <p:spPr>
          <a:xfrm>
            <a:off x="1142979" y="7368439"/>
            <a:ext cx="7315212" cy="13229"/>
          </a:xfrm>
          <a:prstGeom prst="rect">
            <a:avLst/>
          </a:prstGeom>
          <a:solidFill>
            <a:srgbClr val="201E1D"/>
          </a:solidFill>
          <a:ln/>
        </p:spPr>
      </p:sp>
      <p:sp>
        <p:nvSpPr>
          <p:cNvPr id="16" name="Text 14"/>
          <p:cNvSpPr/>
          <p:nvPr/>
        </p:nvSpPr>
        <p:spPr>
          <a:xfrm>
            <a:off x="1142979" y="7553027"/>
            <a:ext cx="8046733" cy="952463"/>
          </a:xfrm>
          <a:prstGeom prst="rect">
            <a:avLst/>
          </a:prstGeom>
          <a:noFill/>
          <a:ln/>
        </p:spPr>
        <p:txBody>
          <a:bodyPr wrap="square" lIns="25400" tIns="25400" rIns="25400" bIns="25400" rtlCol="0" anchor="t">
            <a:normAutofit/>
          </a:bodyPr>
          <a:lstStyle/>
          <a:p>
            <a:pPr algn="l" indent="0" marL="0">
              <a:lnSpc>
                <a:spcPct val="86943"/>
              </a:lnSpc>
              <a:buNone/>
            </a:pPr>
            <a:r>
              <a:rPr lang="en-US" sz="7200" b="1" spc="-144" kern="0" dirty="0">
                <a:solidFill>
                  <a:srgbClr val="EC3013"/>
                </a:solidFill>
                <a:latin typeface="Arial" pitchFamily="34" charset="0"/>
                <a:ea typeface="Arial" pitchFamily="34" charset="-122"/>
                <a:cs typeface="Arial" pitchFamily="34" charset="-120"/>
              </a:rPr>
              <a:t>0</a:t>
            </a:r>
            <a:endParaRPr lang="en-US" sz="7200" dirty="0"/>
          </a:p>
        </p:txBody>
      </p:sp>
      <p:sp>
        <p:nvSpPr>
          <p:cNvPr id="17" name="Text 15"/>
          <p:cNvSpPr/>
          <p:nvPr/>
        </p:nvSpPr>
        <p:spPr>
          <a:xfrm>
            <a:off x="1142979" y="8562578"/>
            <a:ext cx="8046733"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discrepancies</a:t>
            </a:r>
            <a:endParaRPr lang="en-US" sz="2100" dirty="0"/>
          </a:p>
        </p:txBody>
      </p:sp>
      <p:sp>
        <p:nvSpPr>
          <p:cNvPr id="18" name="Shape 16"/>
          <p:cNvSpPr/>
          <p:nvPr/>
        </p:nvSpPr>
        <p:spPr>
          <a:xfrm>
            <a:off x="9143938" y="2971705"/>
            <a:ext cx="13229" cy="5977516"/>
          </a:xfrm>
          <a:prstGeom prst="rect">
            <a:avLst/>
          </a:prstGeom>
          <a:solidFill>
            <a:srgbClr val="201E1E">
              <a:alpha val="40000"/>
            </a:srgbClr>
          </a:solidFill>
          <a:ln/>
        </p:spPr>
      </p:sp>
      <p:sp>
        <p:nvSpPr>
          <p:cNvPr id="19" name="Text 17"/>
          <p:cNvSpPr/>
          <p:nvPr/>
        </p:nvSpPr>
        <p:spPr>
          <a:xfrm>
            <a:off x="9842913" y="2971705"/>
            <a:ext cx="803229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EMPIRICAL · VS PYTHON RE.FULLMATCH</a:t>
            </a:r>
            <a:endParaRPr lang="en-US" sz="1800" dirty="0"/>
          </a:p>
        </p:txBody>
      </p:sp>
      <p:sp>
        <p:nvSpPr>
          <p:cNvPr id="20" name="Shape 18"/>
          <p:cNvSpPr/>
          <p:nvPr/>
        </p:nvSpPr>
        <p:spPr>
          <a:xfrm>
            <a:off x="9842913" y="3592649"/>
            <a:ext cx="7302086" cy="13229"/>
          </a:xfrm>
          <a:prstGeom prst="rect">
            <a:avLst/>
          </a:prstGeom>
          <a:solidFill>
            <a:srgbClr val="201E1D"/>
          </a:solidFill>
          <a:ln/>
        </p:spPr>
      </p:sp>
      <p:sp>
        <p:nvSpPr>
          <p:cNvPr id="21" name="Text 19"/>
          <p:cNvSpPr/>
          <p:nvPr/>
        </p:nvSpPr>
        <p:spPr>
          <a:xfrm>
            <a:off x="9842913" y="3777237"/>
            <a:ext cx="8032295" cy="952463"/>
          </a:xfrm>
          <a:prstGeom prst="rect">
            <a:avLst/>
          </a:prstGeom>
          <a:noFill/>
          <a:ln/>
        </p:spPr>
        <p:txBody>
          <a:bodyPr wrap="square" lIns="25400" tIns="25400" rIns="25400" bIns="25400" rtlCol="0" anchor="t">
            <a:normAutofit/>
          </a:bodyPr>
          <a:lstStyle/>
          <a:p>
            <a:pPr algn="l" indent="0" marL="0">
              <a:lnSpc>
                <a:spcPct val="86943"/>
              </a:lnSpc>
              <a:buNone/>
            </a:pPr>
            <a:r>
              <a:rPr lang="en-US" sz="7200" b="1" spc="-144" kern="0" dirty="0">
                <a:solidFill>
                  <a:srgbClr val="201E1D"/>
                </a:solidFill>
                <a:latin typeface="Arial" pitchFamily="34" charset="0"/>
                <a:ea typeface="Arial" pitchFamily="34" charset="-122"/>
                <a:cs typeface="Arial" pitchFamily="34" charset="-120"/>
              </a:rPr>
              <a:t>41,371</a:t>
            </a:r>
            <a:endParaRPr lang="en-US" sz="7200" dirty="0"/>
          </a:p>
        </p:txBody>
      </p:sp>
      <p:sp>
        <p:nvSpPr>
          <p:cNvPr id="22" name="Text 20"/>
          <p:cNvSpPr/>
          <p:nvPr/>
        </p:nvSpPr>
        <p:spPr>
          <a:xfrm>
            <a:off x="9842913" y="4786788"/>
            <a:ext cx="803229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exhaustive strings, length ≤ 4</a:t>
            </a:r>
            <a:endParaRPr lang="en-US" sz="2100" dirty="0"/>
          </a:p>
        </p:txBody>
      </p:sp>
      <p:sp>
        <p:nvSpPr>
          <p:cNvPr id="23" name="Shape 21"/>
          <p:cNvSpPr/>
          <p:nvPr/>
        </p:nvSpPr>
        <p:spPr>
          <a:xfrm>
            <a:off x="9842913" y="5440081"/>
            <a:ext cx="7302086" cy="13229"/>
          </a:xfrm>
          <a:prstGeom prst="rect">
            <a:avLst/>
          </a:prstGeom>
          <a:solidFill>
            <a:srgbClr val="201E1D"/>
          </a:solidFill>
          <a:ln/>
        </p:spPr>
      </p:sp>
      <p:sp>
        <p:nvSpPr>
          <p:cNvPr id="24" name="Text 22"/>
          <p:cNvSpPr/>
          <p:nvPr/>
        </p:nvSpPr>
        <p:spPr>
          <a:xfrm>
            <a:off x="9842913" y="5624669"/>
            <a:ext cx="8032295" cy="952463"/>
          </a:xfrm>
          <a:prstGeom prst="rect">
            <a:avLst/>
          </a:prstGeom>
          <a:noFill/>
          <a:ln/>
        </p:spPr>
        <p:txBody>
          <a:bodyPr wrap="square" lIns="25400" tIns="25400" rIns="25400" bIns="25400" rtlCol="0" anchor="t">
            <a:normAutofit/>
          </a:bodyPr>
          <a:lstStyle/>
          <a:p>
            <a:pPr algn="l" indent="0" marL="0">
              <a:lnSpc>
                <a:spcPct val="86943"/>
              </a:lnSpc>
              <a:buNone/>
            </a:pPr>
            <a:r>
              <a:rPr lang="en-US" sz="7200" b="1" spc="-144" kern="0" dirty="0">
                <a:solidFill>
                  <a:srgbClr val="201E1D"/>
                </a:solidFill>
                <a:latin typeface="Arial" pitchFamily="34" charset="0"/>
                <a:ea typeface="Arial" pitchFamily="34" charset="-122"/>
                <a:cs typeface="Arial" pitchFamily="34" charset="-120"/>
              </a:rPr>
              <a:t>20,000</a:t>
            </a:r>
            <a:endParaRPr lang="en-US" sz="7200" dirty="0"/>
          </a:p>
        </p:txBody>
      </p:sp>
      <p:sp>
        <p:nvSpPr>
          <p:cNvPr id="25" name="Text 23"/>
          <p:cNvSpPr/>
          <p:nvPr/>
        </p:nvSpPr>
        <p:spPr>
          <a:xfrm>
            <a:off x="9842913" y="6634220"/>
            <a:ext cx="803229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randomized, mutated and Unicode look-alike inputs</a:t>
            </a:r>
            <a:endParaRPr lang="en-US" sz="2100" dirty="0"/>
          </a:p>
        </p:txBody>
      </p:sp>
      <p:sp>
        <p:nvSpPr>
          <p:cNvPr id="26" name="Shape 24"/>
          <p:cNvSpPr/>
          <p:nvPr/>
        </p:nvSpPr>
        <p:spPr>
          <a:xfrm>
            <a:off x="9842913" y="7287513"/>
            <a:ext cx="7302086" cy="13229"/>
          </a:xfrm>
          <a:prstGeom prst="rect">
            <a:avLst/>
          </a:prstGeom>
          <a:solidFill>
            <a:srgbClr val="201E1D"/>
          </a:solidFill>
          <a:ln/>
        </p:spPr>
      </p:sp>
      <p:sp>
        <p:nvSpPr>
          <p:cNvPr id="27" name="Text 25"/>
          <p:cNvSpPr/>
          <p:nvPr/>
        </p:nvSpPr>
        <p:spPr>
          <a:xfrm>
            <a:off x="9842913" y="7472102"/>
            <a:ext cx="8032295" cy="952463"/>
          </a:xfrm>
          <a:prstGeom prst="rect">
            <a:avLst/>
          </a:prstGeom>
          <a:noFill/>
          <a:ln/>
        </p:spPr>
        <p:txBody>
          <a:bodyPr wrap="square" lIns="25400" tIns="25400" rIns="25400" bIns="25400" rtlCol="0" anchor="t">
            <a:normAutofit/>
          </a:bodyPr>
          <a:lstStyle/>
          <a:p>
            <a:pPr algn="l" indent="0" marL="0">
              <a:lnSpc>
                <a:spcPct val="86943"/>
              </a:lnSpc>
              <a:buNone/>
            </a:pPr>
            <a:r>
              <a:rPr lang="en-US" sz="7200" b="1" spc="-144" kern="0" dirty="0">
                <a:solidFill>
                  <a:srgbClr val="EC3013"/>
                </a:solidFill>
                <a:latin typeface="Arial" pitchFamily="34" charset="0"/>
                <a:ea typeface="Arial" pitchFamily="34" charset="-122"/>
                <a:cs typeface="Arial" pitchFamily="34" charset="-120"/>
              </a:rPr>
              <a:t>0</a:t>
            </a:r>
            <a:endParaRPr lang="en-US" sz="7200" dirty="0"/>
          </a:p>
        </p:txBody>
      </p:sp>
      <p:sp>
        <p:nvSpPr>
          <p:cNvPr id="28" name="Text 26"/>
          <p:cNvSpPr/>
          <p:nvPr/>
        </p:nvSpPr>
        <p:spPr>
          <a:xfrm>
            <a:off x="9842913" y="8481653"/>
            <a:ext cx="803229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disagreements</a:t>
            </a:r>
            <a:endParaRPr lang="en-US" sz="2100" dirty="0"/>
          </a:p>
        </p:txBody>
      </p:sp>
      <p:pic>
        <p:nvPicPr>
          <p:cNvPr id="29" name="Image 0" descr="preencoded.png">    </p:cNvPr>
          <p:cNvPicPr>
            <a:picLocks noChangeAspect="1"/>
          </p:cNvPicPr>
          <p:nvPr/>
        </p:nvPicPr>
        <p:blipFill>
          <a:blip r:embed="rId1"/>
          <a:stretch>
            <a:fillRect/>
          </a:stretch>
        </p:blipFill>
        <p:spPr>
          <a:xfrm>
            <a:off x="1142979" y="9399323"/>
            <a:ext cx="4698318" cy="3542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305912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08 · IMPLEMENTATION</a:t>
            </a:r>
            <a:endParaRPr lang="en-US" sz="1800" dirty="0"/>
          </a:p>
        </p:txBody>
      </p:sp>
      <p:sp>
        <p:nvSpPr>
          <p:cNvPr id="4" name="Text 2"/>
          <p:cNvSpPr/>
          <p:nvPr/>
        </p:nvSpPr>
        <p:spPr>
          <a:xfrm>
            <a:off x="13833677" y="495267"/>
            <a:ext cx="364245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LAUZON — PROGRAMMER</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Software Architecture</a:t>
            </a:r>
            <a:endParaRPr lang="en-US" sz="4800" dirty="0"/>
          </a:p>
        </p:txBody>
      </p:sp>
      <p:sp>
        <p:nvSpPr>
          <p:cNvPr id="6" name="Shape 4"/>
          <p:cNvSpPr/>
          <p:nvPr/>
        </p:nvSpPr>
        <p:spPr>
          <a:xfrm>
            <a:off x="1142979" y="6591742"/>
            <a:ext cx="16002020" cy="13229"/>
          </a:xfrm>
          <a:prstGeom prst="rect">
            <a:avLst/>
          </a:prstGeom>
          <a:solidFill>
            <a:srgbClr val="201E1E">
              <a:alpha val="40000"/>
            </a:srgbClr>
          </a:solidFill>
          <a:ln/>
        </p:spPr>
      </p:sp>
      <p:sp>
        <p:nvSpPr>
          <p:cNvPr id="7" name="Shape 5"/>
          <p:cNvSpPr/>
          <p:nvPr/>
        </p:nvSpPr>
        <p:spPr>
          <a:xfrm>
            <a:off x="1142979" y="2895534"/>
            <a:ext cx="16002020" cy="13229"/>
          </a:xfrm>
          <a:prstGeom prst="rect">
            <a:avLst/>
          </a:prstGeom>
          <a:solidFill>
            <a:srgbClr val="201E1E">
              <a:alpha val="40000"/>
            </a:srgbClr>
          </a:solidFill>
          <a:ln/>
        </p:spPr>
      </p:sp>
      <p:sp>
        <p:nvSpPr>
          <p:cNvPr id="8" name="Text 6"/>
          <p:cNvSpPr/>
          <p:nvPr/>
        </p:nvSpPr>
        <p:spPr>
          <a:xfrm>
            <a:off x="1142979" y="3118259"/>
            <a:ext cx="4400527"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Presentation</a:t>
            </a:r>
            <a:endParaRPr lang="en-US" sz="2550" dirty="0"/>
          </a:p>
        </p:txBody>
      </p:sp>
      <p:sp>
        <p:nvSpPr>
          <p:cNvPr id="9" name="Text 7"/>
          <p:cNvSpPr/>
          <p:nvPr/>
        </p:nvSpPr>
        <p:spPr>
          <a:xfrm>
            <a:off x="1142979" y="3563813"/>
            <a:ext cx="4400527"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PYSIDE6 GUI</a:t>
            </a:r>
            <a:endParaRPr lang="en-US" sz="1800" dirty="0"/>
          </a:p>
        </p:txBody>
      </p:sp>
      <p:sp>
        <p:nvSpPr>
          <p:cNvPr id="10" name="Shape 8"/>
          <p:cNvSpPr/>
          <p:nvPr/>
        </p:nvSpPr>
        <p:spPr>
          <a:xfrm>
            <a:off x="5143459" y="3184095"/>
            <a:ext cx="2187773" cy="668176"/>
          </a:xfrm>
          <a:prstGeom prst="rect">
            <a:avLst/>
          </a:prstGeom>
          <a:ln w="13229">
            <a:solidFill>
              <a:srgbClr val="201E1D"/>
            </a:solidFill>
            <a:prstDash val="solid"/>
          </a:ln>
        </p:spPr>
      </p:sp>
      <p:sp>
        <p:nvSpPr>
          <p:cNvPr id="11" name="Text 9"/>
          <p:cNvSpPr/>
          <p:nvPr/>
        </p:nvSpPr>
        <p:spPr>
          <a:xfrm>
            <a:off x="5328138" y="3311624"/>
            <a:ext cx="1818415"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201E1D"/>
                </a:solidFill>
                <a:latin typeface="Arial" pitchFamily="34" charset="0"/>
                <a:ea typeface="Arial" pitchFamily="34" charset="-122"/>
                <a:cs typeface="Arial" pitchFamily="34" charset="-120"/>
              </a:rPr>
              <a:t>SimulatePage</a:t>
            </a:r>
            <a:endParaRPr lang="en-US" sz="2100" dirty="0"/>
          </a:p>
        </p:txBody>
      </p:sp>
      <p:sp>
        <p:nvSpPr>
          <p:cNvPr id="12" name="Shape 10"/>
          <p:cNvSpPr/>
          <p:nvPr/>
        </p:nvSpPr>
        <p:spPr>
          <a:xfrm>
            <a:off x="7483574" y="3184095"/>
            <a:ext cx="1971042" cy="668176"/>
          </a:xfrm>
          <a:prstGeom prst="rect">
            <a:avLst/>
          </a:prstGeom>
          <a:ln w="13229">
            <a:solidFill>
              <a:srgbClr val="201E1D"/>
            </a:solidFill>
            <a:prstDash val="solid"/>
          </a:ln>
        </p:spPr>
      </p:sp>
      <p:sp>
        <p:nvSpPr>
          <p:cNvPr id="13" name="Text 11"/>
          <p:cNvSpPr/>
          <p:nvPr/>
        </p:nvSpPr>
        <p:spPr>
          <a:xfrm>
            <a:off x="7668253" y="3311624"/>
            <a:ext cx="1601684"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201E1D"/>
                </a:solidFill>
                <a:latin typeface="Arial" pitchFamily="34" charset="0"/>
                <a:ea typeface="Arial" pitchFamily="34" charset="-122"/>
                <a:cs typeface="Arial" pitchFamily="34" charset="-120"/>
              </a:rPr>
              <a:t>TheoryPage</a:t>
            </a:r>
            <a:endParaRPr lang="en-US" sz="2100" dirty="0"/>
          </a:p>
        </p:txBody>
      </p:sp>
      <p:sp>
        <p:nvSpPr>
          <p:cNvPr id="14" name="Shape 12"/>
          <p:cNvSpPr/>
          <p:nvPr/>
        </p:nvSpPr>
        <p:spPr>
          <a:xfrm>
            <a:off x="9606958" y="3184095"/>
            <a:ext cx="1766507" cy="668176"/>
          </a:xfrm>
          <a:prstGeom prst="rect">
            <a:avLst/>
          </a:prstGeom>
          <a:ln w="13229">
            <a:solidFill>
              <a:srgbClr val="201E1D"/>
            </a:solidFill>
            <a:prstDash val="solid"/>
          </a:ln>
        </p:spPr>
      </p:sp>
      <p:sp>
        <p:nvSpPr>
          <p:cNvPr id="15" name="Text 13"/>
          <p:cNvSpPr/>
          <p:nvPr/>
        </p:nvSpPr>
        <p:spPr>
          <a:xfrm>
            <a:off x="9791638" y="3311624"/>
            <a:ext cx="1397149"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201E1D"/>
                </a:solidFill>
                <a:latin typeface="Arial" pitchFamily="34" charset="0"/>
                <a:ea typeface="Arial" pitchFamily="34" charset="-122"/>
                <a:cs typeface="Arial" pitchFamily="34" charset="-120"/>
              </a:rPr>
              <a:t>TestsPage</a:t>
            </a:r>
            <a:endParaRPr lang="en-US" sz="2100" dirty="0"/>
          </a:p>
        </p:txBody>
      </p:sp>
      <p:sp>
        <p:nvSpPr>
          <p:cNvPr id="16" name="Shape 14"/>
          <p:cNvSpPr/>
          <p:nvPr/>
        </p:nvSpPr>
        <p:spPr>
          <a:xfrm>
            <a:off x="1142979" y="4127603"/>
            <a:ext cx="16002020" cy="13229"/>
          </a:xfrm>
          <a:prstGeom prst="rect">
            <a:avLst/>
          </a:prstGeom>
          <a:solidFill>
            <a:srgbClr val="201E1E">
              <a:alpha val="40000"/>
            </a:srgbClr>
          </a:solidFill>
          <a:ln/>
        </p:spPr>
      </p:sp>
      <p:sp>
        <p:nvSpPr>
          <p:cNvPr id="17" name="Text 15"/>
          <p:cNvSpPr/>
          <p:nvPr/>
        </p:nvSpPr>
        <p:spPr>
          <a:xfrm>
            <a:off x="1142979" y="4350329"/>
            <a:ext cx="4400527"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Service</a:t>
            </a:r>
            <a:endParaRPr lang="en-US" sz="2550" dirty="0"/>
          </a:p>
        </p:txBody>
      </p:sp>
      <p:sp>
        <p:nvSpPr>
          <p:cNvPr id="18" name="Text 16"/>
          <p:cNvSpPr/>
          <p:nvPr/>
        </p:nvSpPr>
        <p:spPr>
          <a:xfrm>
            <a:off x="1142979" y="4795883"/>
            <a:ext cx="4400527"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RESULT PACKAGING</a:t>
            </a:r>
            <a:endParaRPr lang="en-US" sz="1800" dirty="0"/>
          </a:p>
        </p:txBody>
      </p:sp>
      <p:sp>
        <p:nvSpPr>
          <p:cNvPr id="19" name="Shape 17"/>
          <p:cNvSpPr/>
          <p:nvPr/>
        </p:nvSpPr>
        <p:spPr>
          <a:xfrm>
            <a:off x="5143459" y="4416164"/>
            <a:ext cx="2730169" cy="668176"/>
          </a:xfrm>
          <a:prstGeom prst="rect">
            <a:avLst/>
          </a:prstGeom>
          <a:ln w="13229">
            <a:solidFill>
              <a:srgbClr val="201E1D"/>
            </a:solidFill>
            <a:prstDash val="solid"/>
          </a:ln>
        </p:spPr>
      </p:sp>
      <p:sp>
        <p:nvSpPr>
          <p:cNvPr id="20" name="Text 18"/>
          <p:cNvSpPr/>
          <p:nvPr/>
        </p:nvSpPr>
        <p:spPr>
          <a:xfrm>
            <a:off x="5325285" y="4543694"/>
            <a:ext cx="2366516"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201E1D"/>
                </a:solidFill>
                <a:latin typeface="Arial" pitchFamily="34" charset="0"/>
                <a:ea typeface="Arial" pitchFamily="34" charset="-122"/>
                <a:cs typeface="Arial" pitchFamily="34" charset="-120"/>
              </a:rPr>
              <a:t>SimulationService</a:t>
            </a:r>
            <a:endParaRPr lang="en-US" sz="2100" dirty="0"/>
          </a:p>
        </p:txBody>
      </p:sp>
      <p:sp>
        <p:nvSpPr>
          <p:cNvPr id="21" name="Shape 19"/>
          <p:cNvSpPr/>
          <p:nvPr/>
        </p:nvSpPr>
        <p:spPr>
          <a:xfrm>
            <a:off x="8025970" y="4416164"/>
            <a:ext cx="2639012" cy="668176"/>
          </a:xfrm>
          <a:prstGeom prst="rect">
            <a:avLst/>
          </a:prstGeom>
          <a:ln w="13229">
            <a:solidFill>
              <a:srgbClr val="201E1D"/>
            </a:solidFill>
            <a:prstDash val="solid"/>
          </a:ln>
        </p:spPr>
      </p:sp>
      <p:sp>
        <p:nvSpPr>
          <p:cNvPr id="22" name="Text 20"/>
          <p:cNvSpPr/>
          <p:nvPr/>
        </p:nvSpPr>
        <p:spPr>
          <a:xfrm>
            <a:off x="8209164" y="4543694"/>
            <a:ext cx="2272624"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201E1D"/>
                </a:solidFill>
                <a:latin typeface="Arial" pitchFamily="34" charset="0"/>
                <a:ea typeface="Arial" pitchFamily="34" charset="-122"/>
                <a:cs typeface="Arial" pitchFamily="34" charset="-120"/>
              </a:rPr>
              <a:t>ValidationService</a:t>
            </a:r>
            <a:endParaRPr lang="en-US" sz="2100" dirty="0"/>
          </a:p>
        </p:txBody>
      </p:sp>
      <p:sp>
        <p:nvSpPr>
          <p:cNvPr id="23" name="Shape 21"/>
          <p:cNvSpPr/>
          <p:nvPr/>
        </p:nvSpPr>
        <p:spPr>
          <a:xfrm>
            <a:off x="1142979" y="5359673"/>
            <a:ext cx="16002020" cy="13229"/>
          </a:xfrm>
          <a:prstGeom prst="rect">
            <a:avLst/>
          </a:prstGeom>
          <a:solidFill>
            <a:srgbClr val="201E1E">
              <a:alpha val="40000"/>
            </a:srgbClr>
          </a:solidFill>
          <a:ln/>
        </p:spPr>
      </p:sp>
      <p:sp>
        <p:nvSpPr>
          <p:cNvPr id="24" name="Text 22"/>
          <p:cNvSpPr/>
          <p:nvPr/>
        </p:nvSpPr>
        <p:spPr>
          <a:xfrm>
            <a:off x="1142979" y="5582398"/>
            <a:ext cx="4400527"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Automata core</a:t>
            </a:r>
            <a:endParaRPr lang="en-US" sz="2550" dirty="0"/>
          </a:p>
        </p:txBody>
      </p:sp>
      <p:sp>
        <p:nvSpPr>
          <p:cNvPr id="25" name="Text 23"/>
          <p:cNvSpPr/>
          <p:nvPr/>
        </p:nvSpPr>
        <p:spPr>
          <a:xfrm>
            <a:off x="1142979" y="6027952"/>
            <a:ext cx="4400527"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APP.CORE</a:t>
            </a:r>
            <a:endParaRPr lang="en-US" sz="1800" dirty="0"/>
          </a:p>
        </p:txBody>
      </p:sp>
      <p:sp>
        <p:nvSpPr>
          <p:cNvPr id="26" name="Shape 24"/>
          <p:cNvSpPr/>
          <p:nvPr/>
        </p:nvSpPr>
        <p:spPr>
          <a:xfrm>
            <a:off x="5143459" y="5648234"/>
            <a:ext cx="1825935" cy="668176"/>
          </a:xfrm>
          <a:prstGeom prst="rect">
            <a:avLst/>
          </a:prstGeom>
          <a:solidFill>
            <a:srgbClr val="201E1D"/>
          </a:solidFill>
          <a:ln w="13229">
            <a:solidFill>
              <a:srgbClr val="201E1D"/>
            </a:solidFill>
            <a:prstDash val="solid"/>
          </a:ln>
        </p:spPr>
      </p:sp>
      <p:sp>
        <p:nvSpPr>
          <p:cNvPr id="27" name="Text 25"/>
          <p:cNvSpPr/>
          <p:nvPr/>
        </p:nvSpPr>
        <p:spPr>
          <a:xfrm>
            <a:off x="5328138" y="5775763"/>
            <a:ext cx="1456577"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F3F2F2"/>
                </a:solidFill>
                <a:latin typeface="Arial" pitchFamily="34" charset="0"/>
                <a:ea typeface="Arial" pitchFamily="34" charset="-122"/>
                <a:cs typeface="Arial" pitchFamily="34" charset="-120"/>
              </a:rPr>
              <a:t>pipeline.py</a:t>
            </a:r>
            <a:endParaRPr lang="en-US" sz="2100" dirty="0"/>
          </a:p>
        </p:txBody>
      </p:sp>
      <p:sp>
        <p:nvSpPr>
          <p:cNvPr id="28" name="Shape 26"/>
          <p:cNvSpPr/>
          <p:nvPr/>
        </p:nvSpPr>
        <p:spPr>
          <a:xfrm>
            <a:off x="7121736" y="5648234"/>
            <a:ext cx="1978794" cy="668176"/>
          </a:xfrm>
          <a:prstGeom prst="rect">
            <a:avLst/>
          </a:prstGeom>
          <a:solidFill>
            <a:srgbClr val="201E1D"/>
          </a:solidFill>
          <a:ln w="13229">
            <a:solidFill>
              <a:srgbClr val="201E1D"/>
            </a:solidFill>
            <a:prstDash val="solid"/>
          </a:ln>
        </p:spPr>
      </p:sp>
      <p:sp>
        <p:nvSpPr>
          <p:cNvPr id="29" name="Text 27"/>
          <p:cNvSpPr/>
          <p:nvPr/>
        </p:nvSpPr>
        <p:spPr>
          <a:xfrm>
            <a:off x="7306415" y="5775763"/>
            <a:ext cx="1609436"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F3F2F2"/>
                </a:solidFill>
                <a:latin typeface="Arial" pitchFamily="34" charset="0"/>
                <a:ea typeface="Arial" pitchFamily="34" charset="-122"/>
                <a:cs typeface="Arial" pitchFamily="34" charset="-120"/>
              </a:rPr>
              <a:t>simulator.py</a:t>
            </a:r>
            <a:endParaRPr lang="en-US" sz="2100" dirty="0"/>
          </a:p>
        </p:txBody>
      </p:sp>
      <p:sp>
        <p:nvSpPr>
          <p:cNvPr id="30" name="Shape 28"/>
          <p:cNvSpPr/>
          <p:nvPr/>
        </p:nvSpPr>
        <p:spPr>
          <a:xfrm>
            <a:off x="9252872" y="5648234"/>
            <a:ext cx="2020032" cy="668176"/>
          </a:xfrm>
          <a:prstGeom prst="rect">
            <a:avLst/>
          </a:prstGeom>
          <a:solidFill>
            <a:srgbClr val="201E1D"/>
          </a:solidFill>
          <a:ln w="13229">
            <a:solidFill>
              <a:srgbClr val="201E1D"/>
            </a:solidFill>
            <a:prstDash val="solid"/>
          </a:ln>
        </p:spPr>
      </p:sp>
      <p:sp>
        <p:nvSpPr>
          <p:cNvPr id="31" name="Text 29"/>
          <p:cNvSpPr/>
          <p:nvPr/>
        </p:nvSpPr>
        <p:spPr>
          <a:xfrm>
            <a:off x="9437551" y="5775763"/>
            <a:ext cx="1650673"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F3F2F2"/>
                </a:solidFill>
                <a:latin typeface="Arial" pitchFamily="34" charset="0"/>
                <a:ea typeface="Arial" pitchFamily="34" charset="-122"/>
                <a:cs typeface="Arial" pitchFamily="34" charset="-120"/>
              </a:rPr>
              <a:t>minimizer.py</a:t>
            </a:r>
            <a:endParaRPr lang="en-US" sz="2100" dirty="0"/>
          </a:p>
        </p:txBody>
      </p:sp>
      <p:sp>
        <p:nvSpPr>
          <p:cNvPr id="32" name="Shape 30"/>
          <p:cNvSpPr/>
          <p:nvPr/>
        </p:nvSpPr>
        <p:spPr>
          <a:xfrm>
            <a:off x="11425246" y="5648234"/>
            <a:ext cx="1224938" cy="668176"/>
          </a:xfrm>
          <a:prstGeom prst="rect">
            <a:avLst/>
          </a:prstGeom>
          <a:solidFill>
            <a:srgbClr val="201E1D"/>
          </a:solidFill>
          <a:ln w="13229">
            <a:solidFill>
              <a:srgbClr val="201E1D"/>
            </a:solidFill>
            <a:prstDash val="solid"/>
          </a:ln>
        </p:spPr>
      </p:sp>
      <p:sp>
        <p:nvSpPr>
          <p:cNvPr id="33" name="Text 31"/>
          <p:cNvSpPr/>
          <p:nvPr/>
        </p:nvSpPr>
        <p:spPr>
          <a:xfrm>
            <a:off x="11609925" y="5775763"/>
            <a:ext cx="855580"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F3F2F2"/>
                </a:solidFill>
                <a:latin typeface="Arial" pitchFamily="34" charset="0"/>
                <a:ea typeface="Arial" pitchFamily="34" charset="-122"/>
                <a:cs typeface="Arial" pitchFamily="34" charset="-120"/>
              </a:rPr>
              <a:t>nfa.py</a:t>
            </a:r>
            <a:endParaRPr lang="en-US" sz="2100" dirty="0"/>
          </a:p>
        </p:txBody>
      </p:sp>
      <p:sp>
        <p:nvSpPr>
          <p:cNvPr id="34" name="Shape 32"/>
          <p:cNvSpPr/>
          <p:nvPr/>
        </p:nvSpPr>
        <p:spPr>
          <a:xfrm>
            <a:off x="12802526" y="5648234"/>
            <a:ext cx="1227109" cy="668176"/>
          </a:xfrm>
          <a:prstGeom prst="rect">
            <a:avLst/>
          </a:prstGeom>
          <a:solidFill>
            <a:srgbClr val="201E1D"/>
          </a:solidFill>
          <a:ln w="13229">
            <a:solidFill>
              <a:srgbClr val="201E1D"/>
            </a:solidFill>
            <a:prstDash val="solid"/>
          </a:ln>
        </p:spPr>
      </p:sp>
      <p:sp>
        <p:nvSpPr>
          <p:cNvPr id="35" name="Text 33"/>
          <p:cNvSpPr/>
          <p:nvPr/>
        </p:nvSpPr>
        <p:spPr>
          <a:xfrm>
            <a:off x="12987205" y="5775763"/>
            <a:ext cx="857750" cy="451218"/>
          </a:xfrm>
          <a:prstGeom prst="rect">
            <a:avLst/>
          </a:prstGeom>
          <a:noFill/>
          <a:ln/>
        </p:spPr>
        <p:txBody>
          <a:bodyPr wrap="square" lIns="25400" tIns="25400" rIns="25400" bIns="25400" rtlCol="0" anchor="ctr">
            <a:normAutofit/>
          </a:bodyPr>
          <a:lstStyle/>
          <a:p>
            <a:pPr algn="ctr" indent="0" marL="0">
              <a:lnSpc>
                <a:spcPct val="132970"/>
              </a:lnSpc>
              <a:buNone/>
            </a:pPr>
            <a:r>
              <a:rPr lang="en-US" sz="2100" b="1" spc="21" kern="0" dirty="0">
                <a:solidFill>
                  <a:srgbClr val="F3F2F2"/>
                </a:solidFill>
                <a:latin typeface="Arial" pitchFamily="34" charset="0"/>
                <a:ea typeface="Arial" pitchFamily="34" charset="-122"/>
                <a:cs typeface="Arial" pitchFamily="34" charset="-120"/>
              </a:rPr>
              <a:t>dfa.py</a:t>
            </a:r>
            <a:endParaRPr lang="en-US" sz="2100" dirty="0"/>
          </a:p>
        </p:txBody>
      </p:sp>
      <p:sp>
        <p:nvSpPr>
          <p:cNvPr id="36" name="Shape 34"/>
          <p:cNvSpPr/>
          <p:nvPr/>
        </p:nvSpPr>
        <p:spPr>
          <a:xfrm>
            <a:off x="1142979" y="7100238"/>
            <a:ext cx="380959" cy="380959"/>
          </a:xfrm>
          <a:prstGeom prst="rect">
            <a:avLst/>
          </a:prstGeom>
          <a:solidFill>
            <a:srgbClr val="EC3013"/>
          </a:solidFill>
          <a:ln/>
        </p:spPr>
      </p:sp>
      <p:sp>
        <p:nvSpPr>
          <p:cNvPr id="37" name="Text 35"/>
          <p:cNvSpPr/>
          <p:nvPr/>
        </p:nvSpPr>
        <p:spPr>
          <a:xfrm>
            <a:off x="1104879" y="7100238"/>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1</a:t>
            </a:r>
            <a:endParaRPr lang="en-US" sz="1800" dirty="0"/>
          </a:p>
        </p:txBody>
      </p:sp>
      <p:sp>
        <p:nvSpPr>
          <p:cNvPr id="38" name="Text 36"/>
          <p:cNvSpPr/>
          <p:nvPr/>
        </p:nvSpPr>
        <p:spPr>
          <a:xfrm>
            <a:off x="1714417" y="7100238"/>
            <a:ext cx="4460213"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Alphabet filter</a:t>
            </a:r>
            <a:endParaRPr lang="en-US" sz="2550" dirty="0"/>
          </a:p>
        </p:txBody>
      </p:sp>
      <p:sp>
        <p:nvSpPr>
          <p:cNvPr id="39" name="Text 37"/>
          <p:cNvSpPr/>
          <p:nvPr/>
        </p:nvSpPr>
        <p:spPr>
          <a:xfrm>
            <a:off x="1714417" y="7545792"/>
            <a:ext cx="4460213"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Rejects symbols ∉ Σ, with position</a:t>
            </a:r>
            <a:endParaRPr lang="en-US" sz="2100" dirty="0"/>
          </a:p>
        </p:txBody>
      </p:sp>
      <p:sp>
        <p:nvSpPr>
          <p:cNvPr id="40" name="Shape 38"/>
          <p:cNvSpPr/>
          <p:nvPr/>
        </p:nvSpPr>
        <p:spPr>
          <a:xfrm>
            <a:off x="6629363" y="7100238"/>
            <a:ext cx="380959" cy="380959"/>
          </a:xfrm>
          <a:prstGeom prst="rect">
            <a:avLst/>
          </a:prstGeom>
          <a:solidFill>
            <a:srgbClr val="EC3013"/>
          </a:solidFill>
          <a:ln/>
        </p:spPr>
      </p:sp>
      <p:sp>
        <p:nvSpPr>
          <p:cNvPr id="41" name="Text 39"/>
          <p:cNvSpPr/>
          <p:nvPr/>
        </p:nvSpPr>
        <p:spPr>
          <a:xfrm>
            <a:off x="6591263" y="7100238"/>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2</a:t>
            </a:r>
            <a:endParaRPr lang="en-US" sz="1800" dirty="0"/>
          </a:p>
        </p:txBody>
      </p:sp>
      <p:sp>
        <p:nvSpPr>
          <p:cNvPr id="42" name="Text 40"/>
          <p:cNvSpPr/>
          <p:nvPr/>
        </p:nvSpPr>
        <p:spPr>
          <a:xfrm>
            <a:off x="7200801" y="7100238"/>
            <a:ext cx="3721468"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Automaton traversal</a:t>
            </a:r>
            <a:endParaRPr lang="en-US" sz="2550" dirty="0"/>
          </a:p>
        </p:txBody>
      </p:sp>
      <p:sp>
        <p:nvSpPr>
          <p:cNvPr id="43" name="Text 41"/>
          <p:cNvSpPr/>
          <p:nvPr/>
        </p:nvSpPr>
        <p:spPr>
          <a:xfrm>
            <a:off x="7200801" y="7545792"/>
            <a:ext cx="3721468"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spc="21" kern="0" dirty="0">
                <a:solidFill>
                  <a:srgbClr val="201E1D"/>
                </a:solidFill>
                <a:latin typeface="Arial" pitchFamily="34" charset="0"/>
                <a:ea typeface="Arial" pitchFamily="34" charset="-122"/>
                <a:cs typeface="Arial" pitchFamily="34" charset="-120"/>
              </a:rPr>
              <a:t>app.core.simulator.Run</a:t>
            </a:r>
            <a:endParaRPr lang="en-US" sz="2100" dirty="0"/>
          </a:p>
        </p:txBody>
      </p:sp>
      <p:sp>
        <p:nvSpPr>
          <p:cNvPr id="44" name="Shape 42"/>
          <p:cNvSpPr/>
          <p:nvPr/>
        </p:nvSpPr>
        <p:spPr>
          <a:xfrm>
            <a:off x="12115745" y="7100238"/>
            <a:ext cx="380959" cy="380959"/>
          </a:xfrm>
          <a:prstGeom prst="rect">
            <a:avLst/>
          </a:prstGeom>
          <a:solidFill>
            <a:srgbClr val="EC3013"/>
          </a:solidFill>
          <a:ln/>
        </p:spPr>
      </p:sp>
      <p:sp>
        <p:nvSpPr>
          <p:cNvPr id="45" name="Text 43"/>
          <p:cNvSpPr/>
          <p:nvPr/>
        </p:nvSpPr>
        <p:spPr>
          <a:xfrm>
            <a:off x="12077645" y="7100238"/>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3</a:t>
            </a:r>
            <a:endParaRPr lang="en-US" sz="1800" dirty="0"/>
          </a:p>
        </p:txBody>
      </p:sp>
      <p:sp>
        <p:nvSpPr>
          <p:cNvPr id="46" name="Text 44"/>
          <p:cNvSpPr/>
          <p:nvPr/>
        </p:nvSpPr>
        <p:spPr>
          <a:xfrm>
            <a:off x="12687184" y="7100238"/>
            <a:ext cx="3619035" cy="426603"/>
          </a:xfrm>
          <a:prstGeom prst="rect">
            <a:avLst/>
          </a:prstGeom>
          <a:noFill/>
          <a:ln/>
        </p:spPr>
        <p:txBody>
          <a:bodyPr wrap="square" lIns="25400" tIns="25400" rIns="25400" bIns="25400" rtlCol="0" anchor="t">
            <a:normAutofit/>
          </a:bodyPr>
          <a:lstStyle/>
          <a:p>
            <a:pPr algn="l" indent="0" marL="0">
              <a:lnSpc>
                <a:spcPct val="104914"/>
              </a:lnSpc>
              <a:buNone/>
            </a:pPr>
            <a:r>
              <a:rPr lang="en-US" sz="2550" b="1" dirty="0">
                <a:solidFill>
                  <a:srgbClr val="201E1D"/>
                </a:solidFill>
                <a:latin typeface="Arial" pitchFamily="34" charset="0"/>
                <a:ea typeface="Arial" pitchFamily="34" charset="-122"/>
                <a:cs typeface="Arial" pitchFamily="34" charset="-120"/>
              </a:rPr>
              <a:t>Result packaging</a:t>
            </a:r>
            <a:endParaRPr lang="en-US" sz="2550" dirty="0"/>
          </a:p>
        </p:txBody>
      </p:sp>
      <p:sp>
        <p:nvSpPr>
          <p:cNvPr id="47" name="Text 45"/>
          <p:cNvSpPr/>
          <p:nvPr/>
        </p:nvSpPr>
        <p:spPr>
          <a:xfrm>
            <a:off x="12687184" y="7545792"/>
            <a:ext cx="361903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Structured result for the GUI</a:t>
            </a:r>
            <a:endParaRPr lang="en-US" sz="2100" dirty="0"/>
          </a:p>
        </p:txBody>
      </p:sp>
      <p:pic>
        <p:nvPicPr>
          <p:cNvPr id="48" name="Image 0" descr="preencoded.png">    </p:cNvPr>
          <p:cNvPicPr>
            <a:picLocks noChangeAspect="1"/>
          </p:cNvPicPr>
          <p:nvPr/>
        </p:nvPicPr>
        <p:blipFill>
          <a:blip r:embed="rId1"/>
          <a:stretch>
            <a:fillRect/>
          </a:stretch>
        </p:blipFill>
        <p:spPr>
          <a:xfrm>
            <a:off x="1142979" y="9399323"/>
            <a:ext cx="4698318" cy="3542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217474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09 · INTERFACE</a:t>
            </a:r>
            <a:endParaRPr lang="en-US" sz="1800" dirty="0"/>
          </a:p>
        </p:txBody>
      </p:sp>
      <p:sp>
        <p:nvSpPr>
          <p:cNvPr id="4" name="Text 2"/>
          <p:cNvSpPr/>
          <p:nvPr/>
        </p:nvSpPr>
        <p:spPr>
          <a:xfrm>
            <a:off x="12768936" y="495267"/>
            <a:ext cx="48136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DOTOSME — PRESENTATION LEAD</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The Educational GUI</a:t>
            </a:r>
            <a:endParaRPr lang="en-US" sz="4800" dirty="0"/>
          </a:p>
        </p:txBody>
      </p:sp>
      <p:pic>
        <p:nvPicPr>
          <p:cNvPr id="6" name="Image 0" descr="preencoded.png">    </p:cNvPr>
          <p:cNvPicPr>
            <a:picLocks noChangeAspect="1"/>
          </p:cNvPicPr>
          <p:nvPr/>
        </p:nvPicPr>
        <p:blipFill>
          <a:blip r:embed="rId1"/>
          <a:stretch>
            <a:fillRect/>
          </a:stretch>
        </p:blipFill>
        <p:spPr>
          <a:xfrm>
            <a:off x="1142979" y="2895534"/>
            <a:ext cx="9905958" cy="6390927"/>
          </a:xfrm>
          <a:prstGeom prst="rect">
            <a:avLst/>
          </a:prstGeom>
        </p:spPr>
      </p:pic>
      <p:sp>
        <p:nvSpPr>
          <p:cNvPr id="7" name="Shape 4"/>
          <p:cNvSpPr/>
          <p:nvPr/>
        </p:nvSpPr>
        <p:spPr>
          <a:xfrm>
            <a:off x="7471327" y="3868239"/>
            <a:ext cx="419096" cy="419096"/>
          </a:xfrm>
          <a:prstGeom prst="rect">
            <a:avLst/>
          </a:prstGeom>
          <a:solidFill>
            <a:srgbClr val="EC3013"/>
          </a:solidFill>
          <a:ln/>
        </p:spPr>
      </p:sp>
      <p:sp>
        <p:nvSpPr>
          <p:cNvPr id="8" name="Text 5"/>
          <p:cNvSpPr/>
          <p:nvPr/>
        </p:nvSpPr>
        <p:spPr>
          <a:xfrm>
            <a:off x="7433227" y="3868239"/>
            <a:ext cx="495296" cy="457196"/>
          </a:xfrm>
          <a:prstGeom prst="rect">
            <a:avLst/>
          </a:prstGeom>
          <a:noFill/>
          <a:ln/>
        </p:spPr>
        <p:txBody>
          <a:bodyPr wrap="square" lIns="25400" tIns="25400" rIns="25400" bIns="25400" rtlCol="0" anchor="ctr">
            <a:normAutofit/>
          </a:bodyPr>
          <a:lstStyle/>
          <a:p>
            <a:pPr algn="ctr" indent="0" marL="0">
              <a:lnSpc>
                <a:spcPct val="134958"/>
              </a:lnSpc>
              <a:buNone/>
            </a:pPr>
            <a:r>
              <a:rPr lang="en-US" sz="1950" b="1" dirty="0">
                <a:solidFill>
                  <a:srgbClr val="F3F2F2"/>
                </a:solidFill>
                <a:latin typeface="Arial" pitchFamily="34" charset="0"/>
                <a:ea typeface="Arial" pitchFamily="34" charset="-122"/>
                <a:cs typeface="Arial" pitchFamily="34" charset="-120"/>
              </a:rPr>
              <a:t>1</a:t>
            </a:r>
            <a:endParaRPr lang="en-US" sz="1950" dirty="0"/>
          </a:p>
        </p:txBody>
      </p:sp>
      <p:sp>
        <p:nvSpPr>
          <p:cNvPr id="9" name="Shape 6"/>
          <p:cNvSpPr/>
          <p:nvPr/>
        </p:nvSpPr>
        <p:spPr>
          <a:xfrm>
            <a:off x="6579805" y="4353998"/>
            <a:ext cx="419096" cy="419096"/>
          </a:xfrm>
          <a:prstGeom prst="rect">
            <a:avLst/>
          </a:prstGeom>
          <a:solidFill>
            <a:srgbClr val="EC3013"/>
          </a:solidFill>
          <a:ln/>
        </p:spPr>
      </p:sp>
      <p:sp>
        <p:nvSpPr>
          <p:cNvPr id="10" name="Text 7"/>
          <p:cNvSpPr/>
          <p:nvPr/>
        </p:nvSpPr>
        <p:spPr>
          <a:xfrm>
            <a:off x="6541705" y="4353998"/>
            <a:ext cx="495296" cy="457196"/>
          </a:xfrm>
          <a:prstGeom prst="rect">
            <a:avLst/>
          </a:prstGeom>
          <a:noFill/>
          <a:ln/>
        </p:spPr>
        <p:txBody>
          <a:bodyPr wrap="square" lIns="25400" tIns="25400" rIns="25400" bIns="25400" rtlCol="0" anchor="ctr">
            <a:normAutofit/>
          </a:bodyPr>
          <a:lstStyle/>
          <a:p>
            <a:pPr algn="ctr" indent="0" marL="0">
              <a:lnSpc>
                <a:spcPct val="134958"/>
              </a:lnSpc>
              <a:buNone/>
            </a:pPr>
            <a:r>
              <a:rPr lang="en-US" sz="1950" b="1" dirty="0">
                <a:solidFill>
                  <a:srgbClr val="F3F2F2"/>
                </a:solidFill>
                <a:latin typeface="Arial" pitchFamily="34" charset="0"/>
                <a:ea typeface="Arial" pitchFamily="34" charset="-122"/>
                <a:cs typeface="Arial" pitchFamily="34" charset="-120"/>
              </a:rPr>
              <a:t>2</a:t>
            </a:r>
            <a:endParaRPr lang="en-US" sz="1950" dirty="0"/>
          </a:p>
        </p:txBody>
      </p:sp>
      <p:sp>
        <p:nvSpPr>
          <p:cNvPr id="11" name="Shape 8"/>
          <p:cNvSpPr/>
          <p:nvPr/>
        </p:nvSpPr>
        <p:spPr>
          <a:xfrm>
            <a:off x="6084434" y="5306188"/>
            <a:ext cx="419096" cy="419096"/>
          </a:xfrm>
          <a:prstGeom prst="rect">
            <a:avLst/>
          </a:prstGeom>
          <a:solidFill>
            <a:srgbClr val="EC3013"/>
          </a:solidFill>
          <a:ln/>
        </p:spPr>
      </p:sp>
      <p:sp>
        <p:nvSpPr>
          <p:cNvPr id="12" name="Text 9"/>
          <p:cNvSpPr/>
          <p:nvPr/>
        </p:nvSpPr>
        <p:spPr>
          <a:xfrm>
            <a:off x="6046334" y="5306188"/>
            <a:ext cx="495296" cy="457196"/>
          </a:xfrm>
          <a:prstGeom prst="rect">
            <a:avLst/>
          </a:prstGeom>
          <a:noFill/>
          <a:ln/>
        </p:spPr>
        <p:txBody>
          <a:bodyPr wrap="square" lIns="25400" tIns="25400" rIns="25400" bIns="25400" rtlCol="0" anchor="ctr">
            <a:normAutofit/>
          </a:bodyPr>
          <a:lstStyle/>
          <a:p>
            <a:pPr algn="ctr" indent="0" marL="0">
              <a:lnSpc>
                <a:spcPct val="134958"/>
              </a:lnSpc>
              <a:buNone/>
            </a:pPr>
            <a:r>
              <a:rPr lang="en-US" sz="1950" b="1" dirty="0">
                <a:solidFill>
                  <a:srgbClr val="F3F2F2"/>
                </a:solidFill>
                <a:latin typeface="Arial" pitchFamily="34" charset="0"/>
                <a:ea typeface="Arial" pitchFamily="34" charset="-122"/>
                <a:cs typeface="Arial" pitchFamily="34" charset="-120"/>
              </a:rPr>
              <a:t>3</a:t>
            </a:r>
            <a:endParaRPr lang="en-US" sz="1950" dirty="0"/>
          </a:p>
        </p:txBody>
      </p:sp>
      <p:sp>
        <p:nvSpPr>
          <p:cNvPr id="13" name="Shape 10"/>
          <p:cNvSpPr/>
          <p:nvPr/>
        </p:nvSpPr>
        <p:spPr>
          <a:xfrm>
            <a:off x="3409869" y="6200913"/>
            <a:ext cx="419096" cy="419096"/>
          </a:xfrm>
          <a:prstGeom prst="rect">
            <a:avLst/>
          </a:prstGeom>
          <a:solidFill>
            <a:srgbClr val="EC3013"/>
          </a:solidFill>
          <a:ln/>
        </p:spPr>
      </p:sp>
      <p:sp>
        <p:nvSpPr>
          <p:cNvPr id="14" name="Text 11"/>
          <p:cNvSpPr/>
          <p:nvPr/>
        </p:nvSpPr>
        <p:spPr>
          <a:xfrm>
            <a:off x="3371769" y="6200913"/>
            <a:ext cx="495296" cy="457196"/>
          </a:xfrm>
          <a:prstGeom prst="rect">
            <a:avLst/>
          </a:prstGeom>
          <a:noFill/>
          <a:ln/>
        </p:spPr>
        <p:txBody>
          <a:bodyPr wrap="square" lIns="25400" tIns="25400" rIns="25400" bIns="25400" rtlCol="0" anchor="ctr">
            <a:normAutofit/>
          </a:bodyPr>
          <a:lstStyle/>
          <a:p>
            <a:pPr algn="ctr" indent="0" marL="0">
              <a:lnSpc>
                <a:spcPct val="134958"/>
              </a:lnSpc>
              <a:buNone/>
            </a:pPr>
            <a:r>
              <a:rPr lang="en-US" sz="1950" b="1" dirty="0">
                <a:solidFill>
                  <a:srgbClr val="F3F2F2"/>
                </a:solidFill>
                <a:latin typeface="Arial" pitchFamily="34" charset="0"/>
                <a:ea typeface="Arial" pitchFamily="34" charset="-122"/>
                <a:cs typeface="Arial" pitchFamily="34" charset="-120"/>
              </a:rPr>
              <a:t>4</a:t>
            </a:r>
            <a:endParaRPr lang="en-US" sz="1950" dirty="0"/>
          </a:p>
        </p:txBody>
      </p:sp>
      <p:sp>
        <p:nvSpPr>
          <p:cNvPr id="15" name="Shape 12"/>
          <p:cNvSpPr/>
          <p:nvPr/>
        </p:nvSpPr>
        <p:spPr>
          <a:xfrm>
            <a:off x="4400506" y="8834034"/>
            <a:ext cx="419096" cy="419096"/>
          </a:xfrm>
          <a:prstGeom prst="rect">
            <a:avLst/>
          </a:prstGeom>
          <a:solidFill>
            <a:srgbClr val="EC3013"/>
          </a:solidFill>
          <a:ln/>
        </p:spPr>
      </p:sp>
      <p:sp>
        <p:nvSpPr>
          <p:cNvPr id="16" name="Text 13"/>
          <p:cNvSpPr/>
          <p:nvPr/>
        </p:nvSpPr>
        <p:spPr>
          <a:xfrm>
            <a:off x="4362406" y="8834034"/>
            <a:ext cx="495296" cy="457196"/>
          </a:xfrm>
          <a:prstGeom prst="rect">
            <a:avLst/>
          </a:prstGeom>
          <a:noFill/>
          <a:ln/>
        </p:spPr>
        <p:txBody>
          <a:bodyPr wrap="square" lIns="25400" tIns="25400" rIns="25400" bIns="25400" rtlCol="0" anchor="ctr">
            <a:normAutofit/>
          </a:bodyPr>
          <a:lstStyle/>
          <a:p>
            <a:pPr algn="ctr" indent="0" marL="0">
              <a:lnSpc>
                <a:spcPct val="134958"/>
              </a:lnSpc>
              <a:buNone/>
            </a:pPr>
            <a:r>
              <a:rPr lang="en-US" sz="1950" b="1" dirty="0">
                <a:solidFill>
                  <a:srgbClr val="F3F2F2"/>
                </a:solidFill>
                <a:latin typeface="Arial" pitchFamily="34" charset="0"/>
                <a:ea typeface="Arial" pitchFamily="34" charset="-122"/>
                <a:cs typeface="Arial" pitchFamily="34" charset="-120"/>
              </a:rPr>
              <a:t>5</a:t>
            </a:r>
            <a:endParaRPr lang="en-US" sz="1950" dirty="0"/>
          </a:p>
        </p:txBody>
      </p:sp>
      <p:sp>
        <p:nvSpPr>
          <p:cNvPr id="17" name="Text 14"/>
          <p:cNvSpPr/>
          <p:nvPr/>
        </p:nvSpPr>
        <p:spPr>
          <a:xfrm>
            <a:off x="11810855" y="2895534"/>
            <a:ext cx="5494169" cy="895309"/>
          </a:xfrm>
          <a:prstGeom prst="rect">
            <a:avLst/>
          </a:prstGeom>
          <a:noFill/>
          <a:ln/>
        </p:spPr>
        <p:txBody>
          <a:bodyPr wrap="square" lIns="25400" tIns="25400" rIns="25400" bIns="25400" rtlCol="0" anchor="t">
            <a:normAutofit/>
          </a:bodyPr>
          <a:lstStyle/>
          <a:p>
            <a:pPr algn="l" indent="0" marL="0">
              <a:lnSpc>
                <a:spcPct val="108000"/>
              </a:lnSpc>
              <a:buNone/>
            </a:pPr>
            <a:r>
              <a:rPr lang="en-US" sz="2700" b="1" dirty="0">
                <a:solidFill>
                  <a:srgbClr val="201E1D"/>
                </a:solidFill>
                <a:latin typeface="Arial" pitchFamily="34" charset="0"/>
                <a:ea typeface="Arial" pitchFamily="34" charset="-122"/>
                <a:cs typeface="Arial" pitchFamily="34" charset="-120"/>
              </a:rPr>
              <a:t>Built to make automata theory observable</a:t>
            </a:r>
            <a:endParaRPr lang="en-US" sz="2700" dirty="0"/>
          </a:p>
        </p:txBody>
      </p:sp>
      <p:sp>
        <p:nvSpPr>
          <p:cNvPr id="18" name="Shape 15"/>
          <p:cNvSpPr/>
          <p:nvPr/>
        </p:nvSpPr>
        <p:spPr>
          <a:xfrm>
            <a:off x="11810855" y="4038410"/>
            <a:ext cx="5334145" cy="13229"/>
          </a:xfrm>
          <a:prstGeom prst="rect">
            <a:avLst/>
          </a:prstGeom>
          <a:solidFill>
            <a:srgbClr val="201E1E">
              <a:alpha val="40000"/>
            </a:srgbClr>
          </a:solidFill>
          <a:ln/>
        </p:spPr>
      </p:sp>
      <p:sp>
        <p:nvSpPr>
          <p:cNvPr id="19" name="Shape 16"/>
          <p:cNvSpPr/>
          <p:nvPr/>
        </p:nvSpPr>
        <p:spPr>
          <a:xfrm>
            <a:off x="11810855" y="4206771"/>
            <a:ext cx="380959" cy="380959"/>
          </a:xfrm>
          <a:prstGeom prst="rect">
            <a:avLst/>
          </a:prstGeom>
          <a:solidFill>
            <a:srgbClr val="EC3013"/>
          </a:solidFill>
          <a:ln/>
        </p:spPr>
      </p:sp>
      <p:sp>
        <p:nvSpPr>
          <p:cNvPr id="20" name="Text 17"/>
          <p:cNvSpPr/>
          <p:nvPr/>
        </p:nvSpPr>
        <p:spPr>
          <a:xfrm>
            <a:off x="11772755" y="4206771"/>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1</a:t>
            </a:r>
            <a:endParaRPr lang="en-US" sz="1800" dirty="0"/>
          </a:p>
        </p:txBody>
      </p:sp>
      <p:sp>
        <p:nvSpPr>
          <p:cNvPr id="21" name="Text 18"/>
          <p:cNvSpPr/>
          <p:nvPr/>
        </p:nvSpPr>
        <p:spPr>
          <a:xfrm>
            <a:off x="12363172" y="4203981"/>
            <a:ext cx="1993522"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Interactive tape</a:t>
            </a:r>
            <a:endParaRPr lang="en-US" sz="2100" dirty="0"/>
          </a:p>
        </p:txBody>
      </p:sp>
      <p:sp>
        <p:nvSpPr>
          <p:cNvPr id="22" name="Shape 19"/>
          <p:cNvSpPr/>
          <p:nvPr/>
        </p:nvSpPr>
        <p:spPr>
          <a:xfrm>
            <a:off x="11810855" y="4800120"/>
            <a:ext cx="5334145" cy="13229"/>
          </a:xfrm>
          <a:prstGeom prst="rect">
            <a:avLst/>
          </a:prstGeom>
          <a:solidFill>
            <a:srgbClr val="201E1E">
              <a:alpha val="40000"/>
            </a:srgbClr>
          </a:solidFill>
          <a:ln/>
        </p:spPr>
      </p:sp>
      <p:sp>
        <p:nvSpPr>
          <p:cNvPr id="23" name="Shape 20"/>
          <p:cNvSpPr/>
          <p:nvPr/>
        </p:nvSpPr>
        <p:spPr>
          <a:xfrm>
            <a:off x="11810855" y="4968482"/>
            <a:ext cx="380959" cy="380959"/>
          </a:xfrm>
          <a:prstGeom prst="rect">
            <a:avLst/>
          </a:prstGeom>
          <a:solidFill>
            <a:srgbClr val="EC3013"/>
          </a:solidFill>
          <a:ln/>
        </p:spPr>
      </p:sp>
      <p:sp>
        <p:nvSpPr>
          <p:cNvPr id="24" name="Text 21"/>
          <p:cNvSpPr/>
          <p:nvPr/>
        </p:nvSpPr>
        <p:spPr>
          <a:xfrm>
            <a:off x="11772755" y="4968482"/>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2</a:t>
            </a:r>
            <a:endParaRPr lang="en-US" sz="1800" dirty="0"/>
          </a:p>
        </p:txBody>
      </p:sp>
      <p:sp>
        <p:nvSpPr>
          <p:cNvPr id="25" name="Text 22"/>
          <p:cNvSpPr/>
          <p:nvPr/>
        </p:nvSpPr>
        <p:spPr>
          <a:xfrm>
            <a:off x="12363172" y="4965692"/>
            <a:ext cx="3382677"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Regex segment indicators</a:t>
            </a:r>
            <a:endParaRPr lang="en-US" sz="2100" dirty="0"/>
          </a:p>
        </p:txBody>
      </p:sp>
      <p:sp>
        <p:nvSpPr>
          <p:cNvPr id="26" name="Shape 23"/>
          <p:cNvSpPr/>
          <p:nvPr/>
        </p:nvSpPr>
        <p:spPr>
          <a:xfrm>
            <a:off x="11810855" y="5561831"/>
            <a:ext cx="5334145" cy="13229"/>
          </a:xfrm>
          <a:prstGeom prst="rect">
            <a:avLst/>
          </a:prstGeom>
          <a:solidFill>
            <a:srgbClr val="201E1E">
              <a:alpha val="40000"/>
            </a:srgbClr>
          </a:solidFill>
          <a:ln/>
        </p:spPr>
      </p:sp>
      <p:sp>
        <p:nvSpPr>
          <p:cNvPr id="27" name="Shape 24"/>
          <p:cNvSpPr/>
          <p:nvPr/>
        </p:nvSpPr>
        <p:spPr>
          <a:xfrm>
            <a:off x="11810855" y="5730193"/>
            <a:ext cx="380959" cy="380959"/>
          </a:xfrm>
          <a:prstGeom prst="rect">
            <a:avLst/>
          </a:prstGeom>
          <a:solidFill>
            <a:srgbClr val="EC3013"/>
          </a:solidFill>
          <a:ln/>
        </p:spPr>
      </p:sp>
      <p:sp>
        <p:nvSpPr>
          <p:cNvPr id="28" name="Text 25"/>
          <p:cNvSpPr/>
          <p:nvPr/>
        </p:nvSpPr>
        <p:spPr>
          <a:xfrm>
            <a:off x="11772755" y="5730193"/>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3</a:t>
            </a:r>
            <a:endParaRPr lang="en-US" sz="1800" dirty="0"/>
          </a:p>
        </p:txBody>
      </p:sp>
      <p:sp>
        <p:nvSpPr>
          <p:cNvPr id="29" name="Text 26"/>
          <p:cNvSpPr/>
          <p:nvPr/>
        </p:nvSpPr>
        <p:spPr>
          <a:xfrm>
            <a:off x="12363172" y="5727402"/>
            <a:ext cx="2081516"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Active transition</a:t>
            </a:r>
            <a:endParaRPr lang="en-US" sz="2100" dirty="0"/>
          </a:p>
        </p:txBody>
      </p:sp>
      <p:sp>
        <p:nvSpPr>
          <p:cNvPr id="30" name="Shape 27"/>
          <p:cNvSpPr/>
          <p:nvPr/>
        </p:nvSpPr>
        <p:spPr>
          <a:xfrm>
            <a:off x="11810855" y="6323541"/>
            <a:ext cx="5334145" cy="13229"/>
          </a:xfrm>
          <a:prstGeom prst="rect">
            <a:avLst/>
          </a:prstGeom>
          <a:solidFill>
            <a:srgbClr val="201E1E">
              <a:alpha val="40000"/>
            </a:srgbClr>
          </a:solidFill>
          <a:ln/>
        </p:spPr>
      </p:sp>
      <p:sp>
        <p:nvSpPr>
          <p:cNvPr id="31" name="Shape 28"/>
          <p:cNvSpPr/>
          <p:nvPr/>
        </p:nvSpPr>
        <p:spPr>
          <a:xfrm>
            <a:off x="11810855" y="6491903"/>
            <a:ext cx="380959" cy="380959"/>
          </a:xfrm>
          <a:prstGeom prst="rect">
            <a:avLst/>
          </a:prstGeom>
          <a:solidFill>
            <a:srgbClr val="EC3013"/>
          </a:solidFill>
          <a:ln/>
        </p:spPr>
      </p:sp>
      <p:sp>
        <p:nvSpPr>
          <p:cNvPr id="32" name="Text 29"/>
          <p:cNvSpPr/>
          <p:nvPr/>
        </p:nvSpPr>
        <p:spPr>
          <a:xfrm>
            <a:off x="11772755" y="6491903"/>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4</a:t>
            </a:r>
            <a:endParaRPr lang="en-US" sz="1800" dirty="0"/>
          </a:p>
        </p:txBody>
      </p:sp>
      <p:sp>
        <p:nvSpPr>
          <p:cNvPr id="33" name="Text 30"/>
          <p:cNvSpPr/>
          <p:nvPr/>
        </p:nvSpPr>
        <p:spPr>
          <a:xfrm>
            <a:off x="12363172" y="6489113"/>
            <a:ext cx="1741134"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Visited states</a:t>
            </a:r>
            <a:endParaRPr lang="en-US" sz="2100" dirty="0"/>
          </a:p>
        </p:txBody>
      </p:sp>
      <p:sp>
        <p:nvSpPr>
          <p:cNvPr id="34" name="Shape 31"/>
          <p:cNvSpPr/>
          <p:nvPr/>
        </p:nvSpPr>
        <p:spPr>
          <a:xfrm>
            <a:off x="11810855" y="7085252"/>
            <a:ext cx="5334145" cy="13229"/>
          </a:xfrm>
          <a:prstGeom prst="rect">
            <a:avLst/>
          </a:prstGeom>
          <a:solidFill>
            <a:srgbClr val="201E1E">
              <a:alpha val="40000"/>
            </a:srgbClr>
          </a:solidFill>
          <a:ln/>
        </p:spPr>
      </p:sp>
      <p:sp>
        <p:nvSpPr>
          <p:cNvPr id="35" name="Shape 32"/>
          <p:cNvSpPr/>
          <p:nvPr/>
        </p:nvSpPr>
        <p:spPr>
          <a:xfrm>
            <a:off x="11810855" y="7253614"/>
            <a:ext cx="380959" cy="380959"/>
          </a:xfrm>
          <a:prstGeom prst="rect">
            <a:avLst/>
          </a:prstGeom>
          <a:solidFill>
            <a:srgbClr val="EC3013"/>
          </a:solidFill>
          <a:ln/>
        </p:spPr>
      </p:sp>
      <p:sp>
        <p:nvSpPr>
          <p:cNvPr id="36" name="Text 33"/>
          <p:cNvSpPr/>
          <p:nvPr/>
        </p:nvSpPr>
        <p:spPr>
          <a:xfrm>
            <a:off x="11772755" y="7253614"/>
            <a:ext cx="457159" cy="419059"/>
          </a:xfrm>
          <a:prstGeom prst="rect">
            <a:avLst/>
          </a:prstGeom>
          <a:noFill/>
          <a:ln/>
        </p:spPr>
        <p:txBody>
          <a:bodyPr wrap="square" lIns="25400" tIns="25400" rIns="25400" bIns="25400" rtlCol="0" anchor="ctr">
            <a:normAutofit/>
          </a:bodyPr>
          <a:lstStyle/>
          <a:p>
            <a:pPr algn="ctr" indent="0" marL="0">
              <a:lnSpc>
                <a:spcPct val="137354"/>
              </a:lnSpc>
              <a:buNone/>
            </a:pPr>
            <a:r>
              <a:rPr lang="en-US" sz="1800" b="1" dirty="0">
                <a:solidFill>
                  <a:srgbClr val="F3F2F2"/>
                </a:solidFill>
                <a:latin typeface="Arial" pitchFamily="34" charset="0"/>
                <a:ea typeface="Arial" pitchFamily="34" charset="-122"/>
                <a:cs typeface="Arial" pitchFamily="34" charset="-120"/>
              </a:rPr>
              <a:t>5</a:t>
            </a:r>
            <a:endParaRPr lang="en-US" sz="1800" dirty="0"/>
          </a:p>
        </p:txBody>
      </p:sp>
      <p:sp>
        <p:nvSpPr>
          <p:cNvPr id="37" name="Text 34"/>
          <p:cNvSpPr/>
          <p:nvPr/>
        </p:nvSpPr>
        <p:spPr>
          <a:xfrm>
            <a:off x="12363172" y="7250823"/>
            <a:ext cx="4564806"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Play / pause, step forward and back</a:t>
            </a:r>
            <a:endParaRPr lang="en-US" sz="2100" dirty="0"/>
          </a:p>
        </p:txBody>
      </p:sp>
      <p:sp>
        <p:nvSpPr>
          <p:cNvPr id="38" name="Shape 35"/>
          <p:cNvSpPr/>
          <p:nvPr/>
        </p:nvSpPr>
        <p:spPr>
          <a:xfrm>
            <a:off x="11810855" y="7846962"/>
            <a:ext cx="5334145" cy="13229"/>
          </a:xfrm>
          <a:prstGeom prst="rect">
            <a:avLst/>
          </a:prstGeom>
          <a:solidFill>
            <a:srgbClr val="201E1E">
              <a:alpha val="40000"/>
            </a:srgbClr>
          </a:solidFill>
          <a:ln/>
        </p:spPr>
      </p:sp>
      <p:sp>
        <p:nvSpPr>
          <p:cNvPr id="39" name="Text 36"/>
          <p:cNvSpPr/>
          <p:nvPr/>
        </p:nvSpPr>
        <p:spPr>
          <a:xfrm>
            <a:off x="11810855" y="8012534"/>
            <a:ext cx="586755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KEYBOARD</a:t>
            </a:r>
            <a:endParaRPr lang="en-US" sz="1800" dirty="0"/>
          </a:p>
        </p:txBody>
      </p:sp>
      <p:sp>
        <p:nvSpPr>
          <p:cNvPr id="40" name="Text 37"/>
          <p:cNvSpPr/>
          <p:nvPr/>
        </p:nvSpPr>
        <p:spPr>
          <a:xfrm>
            <a:off x="11810855" y="8442999"/>
            <a:ext cx="5867559"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spc="21" kern="0" dirty="0">
                <a:solidFill>
                  <a:srgbClr val="201E1D"/>
                </a:solidFill>
                <a:latin typeface="Arial" pitchFamily="34" charset="0"/>
                <a:ea typeface="Arial" pitchFamily="34" charset="-122"/>
                <a:cs typeface="Arial" pitchFamily="34" charset="-120"/>
              </a:rPr>
              <a:t>Space · → · ← · Ctrl+R</a:t>
            </a:r>
            <a:endParaRPr lang="en-US" sz="2100" dirty="0"/>
          </a:p>
        </p:txBody>
      </p:sp>
      <p:pic>
        <p:nvPicPr>
          <p:cNvPr id="41" name="Image 1" descr="preencoded.png">    </p:cNvPr>
          <p:cNvPicPr>
            <a:picLocks noChangeAspect="1"/>
          </p:cNvPicPr>
          <p:nvPr/>
        </p:nvPicPr>
        <p:blipFill>
          <a:blip r:embed="rId2"/>
          <a:stretch>
            <a:fillRect/>
          </a:stretch>
        </p:blipFill>
        <p:spPr>
          <a:xfrm>
            <a:off x="1142979" y="9399323"/>
            <a:ext cx="4698318" cy="3542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373135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10 · LIVE DEMONSTRATION</a:t>
            </a:r>
            <a:endParaRPr lang="en-US" sz="1800" dirty="0"/>
          </a:p>
        </p:txBody>
      </p:sp>
      <p:sp>
        <p:nvSpPr>
          <p:cNvPr id="4" name="Text 2"/>
          <p:cNvSpPr/>
          <p:nvPr/>
        </p:nvSpPr>
        <p:spPr>
          <a:xfrm>
            <a:off x="12768936" y="495267"/>
            <a:ext cx="48136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DOTOSME — PRESENTATION LEAD</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Demo: An Accepted ID</a:t>
            </a:r>
            <a:endParaRPr lang="en-US" sz="4800" dirty="0"/>
          </a:p>
        </p:txBody>
      </p:sp>
      <p:sp>
        <p:nvSpPr>
          <p:cNvPr id="6" name="Shape 4"/>
          <p:cNvSpPr/>
          <p:nvPr/>
        </p:nvSpPr>
        <p:spPr>
          <a:xfrm>
            <a:off x="1142979" y="2895534"/>
            <a:ext cx="5791274" cy="13229"/>
          </a:xfrm>
          <a:prstGeom prst="rect">
            <a:avLst/>
          </a:prstGeom>
          <a:solidFill>
            <a:srgbClr val="201E1D"/>
          </a:solidFill>
          <a:ln/>
        </p:spPr>
      </p:sp>
      <p:sp>
        <p:nvSpPr>
          <p:cNvPr id="7" name="Text 5"/>
          <p:cNvSpPr/>
          <p:nvPr/>
        </p:nvSpPr>
        <p:spPr>
          <a:xfrm>
            <a:off x="1142979" y="3080122"/>
            <a:ext cx="637040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INPUT</a:t>
            </a:r>
            <a:endParaRPr lang="en-US" sz="1800" dirty="0"/>
          </a:p>
        </p:txBody>
      </p:sp>
      <p:sp>
        <p:nvSpPr>
          <p:cNvPr id="8" name="Text 6"/>
          <p:cNvSpPr/>
          <p:nvPr/>
        </p:nvSpPr>
        <p:spPr>
          <a:xfrm>
            <a:off x="1142979" y="3529603"/>
            <a:ext cx="6370402" cy="609641"/>
          </a:xfrm>
          <a:prstGeom prst="rect">
            <a:avLst/>
          </a:prstGeom>
          <a:noFill/>
          <a:ln/>
        </p:spPr>
        <p:txBody>
          <a:bodyPr wrap="square" lIns="25400" tIns="25400" rIns="25400" bIns="25400" rtlCol="0" anchor="t">
            <a:normAutofit/>
          </a:bodyPr>
          <a:lstStyle/>
          <a:p>
            <a:pPr algn="l" indent="0" marL="0">
              <a:lnSpc>
                <a:spcPct val="87273"/>
              </a:lnSpc>
              <a:buNone/>
            </a:pPr>
            <a:r>
              <a:rPr lang="en-US" sz="4500" b="1" spc="45" kern="0" dirty="0">
                <a:solidFill>
                  <a:srgbClr val="201E1D"/>
                </a:solidFill>
                <a:latin typeface="Arial" pitchFamily="34" charset="0"/>
                <a:ea typeface="Arial" pitchFamily="34" charset="-122"/>
                <a:cs typeface="Arial" pitchFamily="34" charset="-120"/>
              </a:rPr>
              <a:t>EMP-2026-0042</a:t>
            </a:r>
            <a:endParaRPr lang="en-US" sz="4500" dirty="0"/>
          </a:p>
        </p:txBody>
      </p:sp>
      <p:sp>
        <p:nvSpPr>
          <p:cNvPr id="9" name="Shape 7"/>
          <p:cNvSpPr/>
          <p:nvPr/>
        </p:nvSpPr>
        <p:spPr>
          <a:xfrm>
            <a:off x="1142979" y="4367795"/>
            <a:ext cx="5791274" cy="13229"/>
          </a:xfrm>
          <a:prstGeom prst="rect">
            <a:avLst/>
          </a:prstGeom>
          <a:solidFill>
            <a:srgbClr val="201E1E">
              <a:alpha val="40000"/>
            </a:srgbClr>
          </a:solidFill>
          <a:ln/>
        </p:spPr>
      </p:sp>
      <p:sp>
        <p:nvSpPr>
          <p:cNvPr id="10" name="Text 8"/>
          <p:cNvSpPr/>
          <p:nvPr/>
        </p:nvSpPr>
        <p:spPr>
          <a:xfrm>
            <a:off x="1142979" y="4552383"/>
            <a:ext cx="637040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EXECUTION PATH</a:t>
            </a:r>
            <a:endParaRPr lang="en-US" sz="1800" dirty="0"/>
          </a:p>
        </p:txBody>
      </p:sp>
      <p:sp>
        <p:nvSpPr>
          <p:cNvPr id="11" name="Text 9"/>
          <p:cNvSpPr/>
          <p:nvPr/>
        </p:nvSpPr>
        <p:spPr>
          <a:xfrm>
            <a:off x="1142979" y="5040002"/>
            <a:ext cx="5965013" cy="495333"/>
          </a:xfrm>
          <a:prstGeom prst="rect">
            <a:avLst/>
          </a:prstGeom>
          <a:noFill/>
          <a:ln/>
        </p:spPr>
        <p:txBody>
          <a:bodyPr wrap="square" lIns="25400" tIns="25400" rIns="25400" bIns="25400" rtlCol="0" anchor="t">
            <a:normAutofit/>
          </a:bodyPr>
          <a:lstStyle/>
          <a:p>
            <a:pPr algn="l" indent="0" marL="0">
              <a:lnSpc>
                <a:spcPct val="141061"/>
              </a:lnSpc>
              <a:buNone/>
            </a:pPr>
            <a:r>
              <a:rPr lang="en-US" sz="2250" spc="22" kern="0" dirty="0">
                <a:solidFill>
                  <a:srgbClr val="201E1D"/>
                </a:solidFill>
                <a:latin typeface="Arial" pitchFamily="34" charset="0"/>
                <a:ea typeface="Arial" pitchFamily="34" charset="-122"/>
                <a:cs typeface="Arial" pitchFamily="34" charset="-120"/>
              </a:rPr>
              <a:t>q0 –E→ q1 –M→ q2 –P→ q3 –‑→ q4</a:t>
            </a:r>
            <a:endParaRPr lang="en-US" sz="2250" dirty="0"/>
          </a:p>
        </p:txBody>
      </p:sp>
      <p:sp>
        <p:nvSpPr>
          <p:cNvPr id="12" name="Text 10"/>
          <p:cNvSpPr/>
          <p:nvPr/>
        </p:nvSpPr>
        <p:spPr>
          <a:xfrm>
            <a:off x="1142979" y="5630560"/>
            <a:ext cx="5965013" cy="495333"/>
          </a:xfrm>
          <a:prstGeom prst="rect">
            <a:avLst/>
          </a:prstGeom>
          <a:noFill/>
          <a:ln/>
        </p:spPr>
        <p:txBody>
          <a:bodyPr wrap="square" lIns="25400" tIns="25400" rIns="25400" bIns="25400" rtlCol="0" anchor="t">
            <a:normAutofit/>
          </a:bodyPr>
          <a:lstStyle/>
          <a:p>
            <a:pPr algn="l" indent="0" marL="0">
              <a:lnSpc>
                <a:spcPct val="141061"/>
              </a:lnSpc>
              <a:buNone/>
            </a:pPr>
            <a:r>
              <a:rPr lang="en-US" sz="2250" spc="22" kern="0" dirty="0">
                <a:solidFill>
                  <a:srgbClr val="201E1D"/>
                </a:solidFill>
                <a:latin typeface="Arial" pitchFamily="34" charset="0"/>
                <a:ea typeface="Arial" pitchFamily="34" charset="-122"/>
                <a:cs typeface="Arial" pitchFamily="34" charset="-120"/>
              </a:rPr>
              <a:t>q4 –2→ q5 –0→ q6 –2→ q7 –6→ q8</a:t>
            </a:r>
            <a:endParaRPr lang="en-US" sz="2250" dirty="0"/>
          </a:p>
        </p:txBody>
      </p:sp>
      <p:sp>
        <p:nvSpPr>
          <p:cNvPr id="13" name="Text 11"/>
          <p:cNvSpPr/>
          <p:nvPr/>
        </p:nvSpPr>
        <p:spPr>
          <a:xfrm>
            <a:off x="1142979" y="6221119"/>
            <a:ext cx="5965013" cy="952566"/>
          </a:xfrm>
          <a:prstGeom prst="rect">
            <a:avLst/>
          </a:prstGeom>
          <a:noFill/>
          <a:ln/>
        </p:spPr>
        <p:txBody>
          <a:bodyPr wrap="square" lIns="25400" tIns="25400" rIns="25400" bIns="25400" rtlCol="0" anchor="t">
            <a:normAutofit/>
          </a:bodyPr>
          <a:lstStyle/>
          <a:p>
            <a:pPr algn="l" indent="0" marL="0">
              <a:lnSpc>
                <a:spcPct val="141061"/>
              </a:lnSpc>
              <a:buNone/>
            </a:pPr>
            <a:r>
              <a:rPr lang="en-US" sz="2250" spc="22" kern="0" dirty="0">
                <a:solidFill>
                  <a:srgbClr val="201E1D"/>
                </a:solidFill>
                <a:latin typeface="Arial" pitchFamily="34" charset="0"/>
                <a:ea typeface="Arial" pitchFamily="34" charset="-122"/>
                <a:cs typeface="Arial" pitchFamily="34" charset="-120"/>
              </a:rPr>
              <a:t>q8 –‑→ q9 –0→ q10 –0→ q11 –4→ q12 –2→ q13</a:t>
            </a:r>
            <a:endParaRPr lang="en-US" sz="2250" dirty="0"/>
          </a:p>
        </p:txBody>
      </p:sp>
      <p:sp>
        <p:nvSpPr>
          <p:cNvPr id="14" name="Shape 12"/>
          <p:cNvSpPr/>
          <p:nvPr/>
        </p:nvSpPr>
        <p:spPr>
          <a:xfrm>
            <a:off x="1142979" y="7516440"/>
            <a:ext cx="5791274" cy="1611581"/>
          </a:xfrm>
          <a:prstGeom prst="rect">
            <a:avLst/>
          </a:prstGeom>
          <a:solidFill>
            <a:srgbClr val="201E1D"/>
          </a:solidFill>
          <a:ln/>
        </p:spPr>
      </p:sp>
      <p:sp>
        <p:nvSpPr>
          <p:cNvPr id="15" name="Text 13"/>
          <p:cNvSpPr/>
          <p:nvPr/>
        </p:nvSpPr>
        <p:spPr>
          <a:xfrm>
            <a:off x="1428647" y="7764074"/>
            <a:ext cx="5741933"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F3F2F2"/>
                </a:solidFill>
                <a:latin typeface="Arial" pitchFamily="34" charset="0"/>
                <a:ea typeface="Arial" pitchFamily="34" charset="-122"/>
                <a:cs typeface="Arial" pitchFamily="34" charset="-120"/>
              </a:rPr>
              <a:t>FINAL STATE Q13 · 13 / 13 SYMBOLS</a:t>
            </a:r>
            <a:endParaRPr lang="en-US" sz="1800" dirty="0"/>
          </a:p>
        </p:txBody>
      </p:sp>
      <p:sp>
        <p:nvSpPr>
          <p:cNvPr id="16" name="Text 14"/>
          <p:cNvSpPr/>
          <p:nvPr/>
        </p:nvSpPr>
        <p:spPr>
          <a:xfrm>
            <a:off x="1428647" y="8194538"/>
            <a:ext cx="5741933" cy="723950"/>
          </a:xfrm>
          <a:prstGeom prst="rect">
            <a:avLst/>
          </a:prstGeom>
          <a:noFill/>
          <a:ln/>
        </p:spPr>
        <p:txBody>
          <a:bodyPr wrap="square" lIns="25400" tIns="25400" rIns="25400" bIns="25400" rtlCol="0" anchor="t">
            <a:normAutofit/>
          </a:bodyPr>
          <a:lstStyle/>
          <a:p>
            <a:pPr algn="l" indent="0" marL="0">
              <a:lnSpc>
                <a:spcPct val="87126"/>
              </a:lnSpc>
              <a:buNone/>
            </a:pPr>
            <a:r>
              <a:rPr lang="en-US" sz="5400" b="1" spc="-108" kern="0" dirty="0">
                <a:solidFill>
                  <a:srgbClr val="F3F2F2"/>
                </a:solidFill>
                <a:latin typeface="Arial" pitchFamily="34" charset="0"/>
                <a:ea typeface="Arial" pitchFamily="34" charset="-122"/>
                <a:cs typeface="Arial" pitchFamily="34" charset="-120"/>
              </a:rPr>
              <a:t>ACCEPT</a:t>
            </a:r>
            <a:endParaRPr lang="en-US" sz="5400" dirty="0"/>
          </a:p>
        </p:txBody>
      </p:sp>
      <p:pic>
        <p:nvPicPr>
          <p:cNvPr id="17" name="Image 0" descr="preencoded.png">    </p:cNvPr>
          <p:cNvPicPr>
            <a:picLocks noChangeAspect="1"/>
          </p:cNvPicPr>
          <p:nvPr/>
        </p:nvPicPr>
        <p:blipFill>
          <a:blip r:embed="rId1"/>
          <a:stretch>
            <a:fillRect/>
          </a:stretch>
        </p:blipFill>
        <p:spPr>
          <a:xfrm>
            <a:off x="7620000" y="2895534"/>
            <a:ext cx="9524999" cy="6145155"/>
          </a:xfrm>
          <a:prstGeom prst="rect">
            <a:avLst/>
          </a:prstGeom>
        </p:spPr>
      </p:pic>
      <p:pic>
        <p:nvPicPr>
          <p:cNvPr id="18" name="Image 1" descr="preencoded.png">    </p:cNvPr>
          <p:cNvPicPr>
            <a:picLocks noChangeAspect="1"/>
          </p:cNvPicPr>
          <p:nvPr/>
        </p:nvPicPr>
        <p:blipFill>
          <a:blip r:embed="rId2"/>
          <a:stretch>
            <a:fillRect/>
          </a:stretch>
        </p:blipFill>
        <p:spPr>
          <a:xfrm>
            <a:off x="1142979" y="9399323"/>
            <a:ext cx="4828129" cy="3542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2799343"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11 · INVALID INPUTS</a:t>
            </a:r>
            <a:endParaRPr lang="en-US" sz="1800" dirty="0"/>
          </a:p>
        </p:txBody>
      </p:sp>
      <p:sp>
        <p:nvSpPr>
          <p:cNvPr id="4" name="Text 2"/>
          <p:cNvSpPr/>
          <p:nvPr/>
        </p:nvSpPr>
        <p:spPr>
          <a:xfrm>
            <a:off x="15085280" y="495267"/>
            <a:ext cx="226569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ANUB + LAUZON</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Two Rejection Modes</a:t>
            </a:r>
            <a:endParaRPr lang="en-US" sz="4800" dirty="0"/>
          </a:p>
        </p:txBody>
      </p:sp>
      <p:sp>
        <p:nvSpPr>
          <p:cNvPr id="6" name="Text 4"/>
          <p:cNvSpPr/>
          <p:nvPr/>
        </p:nvSpPr>
        <p:spPr>
          <a:xfrm>
            <a:off x="1142979" y="2857397"/>
            <a:ext cx="8298211"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CASE A · STRUCTURAL REJECTION</a:t>
            </a:r>
            <a:endParaRPr lang="en-US" sz="1800" dirty="0"/>
          </a:p>
        </p:txBody>
      </p:sp>
      <p:sp>
        <p:nvSpPr>
          <p:cNvPr id="7" name="Text 5"/>
          <p:cNvSpPr/>
          <p:nvPr/>
        </p:nvSpPr>
        <p:spPr>
          <a:xfrm>
            <a:off x="1142979" y="3364032"/>
            <a:ext cx="8298211" cy="571504"/>
          </a:xfrm>
          <a:prstGeom prst="rect">
            <a:avLst/>
          </a:prstGeom>
          <a:noFill/>
          <a:ln/>
        </p:spPr>
        <p:txBody>
          <a:bodyPr wrap="square" lIns="25400" tIns="25400" rIns="25400" bIns="25400" rtlCol="0" anchor="t">
            <a:normAutofit/>
          </a:bodyPr>
          <a:lstStyle/>
          <a:p>
            <a:pPr algn="l" indent="0" marL="0">
              <a:lnSpc>
                <a:spcPct val="86710"/>
              </a:lnSpc>
              <a:buNone/>
            </a:pPr>
            <a:r>
              <a:rPr lang="en-US" sz="4200" b="1" spc="42" kern="0" dirty="0">
                <a:solidFill>
                  <a:srgbClr val="201E1D"/>
                </a:solidFill>
                <a:latin typeface="Arial" pitchFamily="34" charset="0"/>
                <a:ea typeface="Arial" pitchFamily="34" charset="-122"/>
                <a:cs typeface="Arial" pitchFamily="34" charset="-120"/>
              </a:rPr>
              <a:t>EMP2026-0001</a:t>
            </a:r>
            <a:endParaRPr lang="en-US" sz="4200" dirty="0"/>
          </a:p>
        </p:txBody>
      </p:sp>
      <p:sp>
        <p:nvSpPr>
          <p:cNvPr id="8" name="Text 6"/>
          <p:cNvSpPr/>
          <p:nvPr/>
        </p:nvSpPr>
        <p:spPr>
          <a:xfrm>
            <a:off x="1142979" y="4049778"/>
            <a:ext cx="8298211"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‘2’ ∈ Σ, but q3 only allows ‘-’ → trap state</a:t>
            </a:r>
            <a:endParaRPr lang="en-US" sz="2100" dirty="0"/>
          </a:p>
        </p:txBody>
      </p:sp>
      <p:pic>
        <p:nvPicPr>
          <p:cNvPr id="9" name="Image 0" descr="preencoded.png">    </p:cNvPr>
          <p:cNvPicPr>
            <a:picLocks noChangeAspect="1"/>
          </p:cNvPicPr>
          <p:nvPr/>
        </p:nvPicPr>
        <p:blipFill>
          <a:blip r:embed="rId1"/>
          <a:stretch>
            <a:fillRect/>
          </a:stretch>
        </p:blipFill>
        <p:spPr>
          <a:xfrm>
            <a:off x="1142979" y="4664935"/>
            <a:ext cx="7238938" cy="4670206"/>
          </a:xfrm>
          <a:prstGeom prst="rect">
            <a:avLst/>
          </a:prstGeom>
        </p:spPr>
      </p:pic>
      <p:sp>
        <p:nvSpPr>
          <p:cNvPr id="10" name="Shape 7"/>
          <p:cNvSpPr/>
          <p:nvPr/>
        </p:nvSpPr>
        <p:spPr>
          <a:xfrm>
            <a:off x="9143938" y="2857397"/>
            <a:ext cx="13229" cy="6477744"/>
          </a:xfrm>
          <a:prstGeom prst="rect">
            <a:avLst/>
          </a:prstGeom>
          <a:solidFill>
            <a:srgbClr val="201E1E">
              <a:alpha val="40000"/>
            </a:srgbClr>
          </a:solidFill>
          <a:ln/>
        </p:spPr>
      </p:sp>
      <p:sp>
        <p:nvSpPr>
          <p:cNvPr id="11" name="Text 8"/>
          <p:cNvSpPr/>
          <p:nvPr/>
        </p:nvSpPr>
        <p:spPr>
          <a:xfrm>
            <a:off x="9614296" y="2857397"/>
            <a:ext cx="8283773"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CASE B · ALPHABET REJECTION</a:t>
            </a:r>
            <a:endParaRPr lang="en-US" sz="1800" dirty="0"/>
          </a:p>
        </p:txBody>
      </p:sp>
      <p:sp>
        <p:nvSpPr>
          <p:cNvPr id="12" name="Text 9"/>
          <p:cNvSpPr/>
          <p:nvPr/>
        </p:nvSpPr>
        <p:spPr>
          <a:xfrm>
            <a:off x="9614296" y="3364032"/>
            <a:ext cx="8283773" cy="571504"/>
          </a:xfrm>
          <a:prstGeom prst="rect">
            <a:avLst/>
          </a:prstGeom>
          <a:noFill/>
          <a:ln/>
        </p:spPr>
        <p:txBody>
          <a:bodyPr wrap="square" lIns="25400" tIns="25400" rIns="25400" bIns="25400" rtlCol="0" anchor="t">
            <a:normAutofit/>
          </a:bodyPr>
          <a:lstStyle/>
          <a:p>
            <a:pPr algn="l" indent="0" marL="0">
              <a:lnSpc>
                <a:spcPct val="86710"/>
              </a:lnSpc>
              <a:buNone/>
            </a:pPr>
            <a:r>
              <a:rPr lang="en-US" sz="4200" b="1" spc="42" kern="0" dirty="0">
                <a:solidFill>
                  <a:srgbClr val="201E1D"/>
                </a:solidFill>
                <a:latin typeface="Arial" pitchFamily="34" charset="0"/>
                <a:ea typeface="Arial" pitchFamily="34" charset="-122"/>
                <a:cs typeface="Arial" pitchFamily="34" charset="-120"/>
              </a:rPr>
              <a:t>EMP-2026-12A4</a:t>
            </a:r>
            <a:endParaRPr lang="en-US" sz="4200" dirty="0"/>
          </a:p>
        </p:txBody>
      </p:sp>
      <p:sp>
        <p:nvSpPr>
          <p:cNvPr id="13" name="Text 10"/>
          <p:cNvSpPr/>
          <p:nvPr/>
        </p:nvSpPr>
        <p:spPr>
          <a:xfrm>
            <a:off x="9614296" y="4049778"/>
            <a:ext cx="8283773"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‘A’ ∉ Σ → rejected before the automaton runs</a:t>
            </a:r>
            <a:endParaRPr lang="en-US" sz="2100" dirty="0"/>
          </a:p>
        </p:txBody>
      </p:sp>
      <p:pic>
        <p:nvPicPr>
          <p:cNvPr id="14" name="Image 1" descr="preencoded.png">    </p:cNvPr>
          <p:cNvPicPr>
            <a:picLocks noChangeAspect="1"/>
          </p:cNvPicPr>
          <p:nvPr/>
        </p:nvPicPr>
        <p:blipFill>
          <a:blip r:embed="rId2"/>
          <a:stretch>
            <a:fillRect/>
          </a:stretch>
        </p:blipFill>
        <p:spPr>
          <a:xfrm>
            <a:off x="9614296" y="4664935"/>
            <a:ext cx="7238938" cy="4670206"/>
          </a:xfrm>
          <a:prstGeom prst="rect">
            <a:avLst/>
          </a:prstGeom>
        </p:spPr>
      </p:pic>
      <p:pic>
        <p:nvPicPr>
          <p:cNvPr id="15" name="Image 2" descr="preencoded.png">    </p:cNvPr>
          <p:cNvPicPr>
            <a:picLocks noChangeAspect="1"/>
          </p:cNvPicPr>
          <p:nvPr/>
        </p:nvPicPr>
        <p:blipFill>
          <a:blip r:embed="rId3"/>
          <a:stretch>
            <a:fillRect/>
          </a:stretch>
        </p:blipFill>
        <p:spPr>
          <a:xfrm>
            <a:off x="1142979" y="9399323"/>
            <a:ext cx="4828129" cy="3542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181196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12 · TESTING</a:t>
            </a:r>
            <a:endParaRPr lang="en-US" sz="1800" dirty="0"/>
          </a:p>
        </p:txBody>
      </p:sp>
      <p:sp>
        <p:nvSpPr>
          <p:cNvPr id="4" name="Text 2"/>
          <p:cNvSpPr/>
          <p:nvPr/>
        </p:nvSpPr>
        <p:spPr>
          <a:xfrm>
            <a:off x="14205954" y="495267"/>
            <a:ext cx="323295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PERITO — TESTER / QA</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Test Suite and Edge Cases</a:t>
            </a:r>
            <a:endParaRPr lang="en-US" sz="4800" dirty="0"/>
          </a:p>
        </p:txBody>
      </p:sp>
      <p:sp>
        <p:nvSpPr>
          <p:cNvPr id="6" name="Shape 4"/>
          <p:cNvSpPr/>
          <p:nvPr/>
        </p:nvSpPr>
        <p:spPr>
          <a:xfrm>
            <a:off x="1142979" y="2895534"/>
            <a:ext cx="2743192" cy="13229"/>
          </a:xfrm>
          <a:prstGeom prst="rect">
            <a:avLst/>
          </a:prstGeom>
          <a:solidFill>
            <a:srgbClr val="201E1D"/>
          </a:solidFill>
          <a:ln/>
        </p:spPr>
      </p:sp>
      <p:sp>
        <p:nvSpPr>
          <p:cNvPr id="7" name="Text 5"/>
          <p:cNvSpPr/>
          <p:nvPr/>
        </p:nvSpPr>
        <p:spPr>
          <a:xfrm>
            <a:off x="1142979" y="3061105"/>
            <a:ext cx="3017511" cy="952463"/>
          </a:xfrm>
          <a:prstGeom prst="rect">
            <a:avLst/>
          </a:prstGeom>
          <a:noFill/>
          <a:ln/>
        </p:spPr>
        <p:txBody>
          <a:bodyPr wrap="square" lIns="25400" tIns="25400" rIns="25400" bIns="25400" rtlCol="0" anchor="t">
            <a:normAutofit/>
          </a:bodyPr>
          <a:lstStyle/>
          <a:p>
            <a:pPr algn="l" indent="0" marL="0">
              <a:lnSpc>
                <a:spcPct val="86943"/>
              </a:lnSpc>
              <a:buNone/>
            </a:pPr>
            <a:r>
              <a:rPr lang="en-US" sz="7200" b="1" spc="-144" kern="0" dirty="0">
                <a:solidFill>
                  <a:srgbClr val="201E1D"/>
                </a:solidFill>
                <a:latin typeface="Arial" pitchFamily="34" charset="0"/>
                <a:ea typeface="Arial" pitchFamily="34" charset="-122"/>
                <a:cs typeface="Arial" pitchFamily="34" charset="-120"/>
              </a:rPr>
              <a:t>28</a:t>
            </a:r>
            <a:endParaRPr lang="en-US" sz="7200" dirty="0"/>
          </a:p>
        </p:txBody>
      </p:sp>
      <p:sp>
        <p:nvSpPr>
          <p:cNvPr id="8" name="Text 6"/>
          <p:cNvSpPr/>
          <p:nvPr/>
        </p:nvSpPr>
        <p:spPr>
          <a:xfrm>
            <a:off x="1142979" y="4070656"/>
            <a:ext cx="3017511"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predefined cases</a:t>
            </a:r>
            <a:endParaRPr lang="en-US" sz="2100" dirty="0"/>
          </a:p>
        </p:txBody>
      </p:sp>
      <p:sp>
        <p:nvSpPr>
          <p:cNvPr id="9" name="Shape 7"/>
          <p:cNvSpPr/>
          <p:nvPr/>
        </p:nvSpPr>
        <p:spPr>
          <a:xfrm>
            <a:off x="4190958" y="2895534"/>
            <a:ext cx="2743295" cy="13229"/>
          </a:xfrm>
          <a:prstGeom prst="rect">
            <a:avLst/>
          </a:prstGeom>
          <a:solidFill>
            <a:srgbClr val="201E1D"/>
          </a:solidFill>
          <a:ln/>
        </p:spPr>
      </p:sp>
      <p:sp>
        <p:nvSpPr>
          <p:cNvPr id="10" name="Text 8"/>
          <p:cNvSpPr/>
          <p:nvPr/>
        </p:nvSpPr>
        <p:spPr>
          <a:xfrm>
            <a:off x="4190958" y="3061105"/>
            <a:ext cx="3017625" cy="952463"/>
          </a:xfrm>
          <a:prstGeom prst="rect">
            <a:avLst/>
          </a:prstGeom>
          <a:noFill/>
          <a:ln/>
        </p:spPr>
        <p:txBody>
          <a:bodyPr wrap="square" lIns="25400" tIns="25400" rIns="25400" bIns="25400" rtlCol="0" anchor="t">
            <a:normAutofit/>
          </a:bodyPr>
          <a:lstStyle/>
          <a:p>
            <a:pPr algn="l" indent="0" marL="0">
              <a:lnSpc>
                <a:spcPct val="86943"/>
              </a:lnSpc>
              <a:buNone/>
            </a:pPr>
            <a:r>
              <a:rPr lang="en-US" sz="7200" b="1" spc="-144" kern="0" dirty="0">
                <a:solidFill>
                  <a:srgbClr val="201E1D"/>
                </a:solidFill>
                <a:latin typeface="Arial" pitchFamily="34" charset="0"/>
                <a:ea typeface="Arial" pitchFamily="34" charset="-122"/>
                <a:cs typeface="Arial" pitchFamily="34" charset="-120"/>
              </a:rPr>
              <a:t>250+</a:t>
            </a:r>
            <a:endParaRPr lang="en-US" sz="7200" dirty="0"/>
          </a:p>
        </p:txBody>
      </p:sp>
      <p:sp>
        <p:nvSpPr>
          <p:cNvPr id="11" name="Text 9"/>
          <p:cNvSpPr/>
          <p:nvPr/>
        </p:nvSpPr>
        <p:spPr>
          <a:xfrm>
            <a:off x="4190958" y="4070656"/>
            <a:ext cx="301762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automated tests</a:t>
            </a:r>
            <a:endParaRPr lang="en-US" sz="2100" dirty="0"/>
          </a:p>
        </p:txBody>
      </p:sp>
      <p:sp>
        <p:nvSpPr>
          <p:cNvPr id="12" name="Shape 10"/>
          <p:cNvSpPr/>
          <p:nvPr/>
        </p:nvSpPr>
        <p:spPr>
          <a:xfrm>
            <a:off x="1142979" y="4704932"/>
            <a:ext cx="2068297" cy="419096"/>
          </a:xfrm>
          <a:prstGeom prst="rect">
            <a:avLst/>
          </a:prstGeom>
          <a:solidFill>
            <a:srgbClr val="201E1D"/>
          </a:solidFill>
          <a:ln/>
        </p:spPr>
      </p:sp>
      <p:sp>
        <p:nvSpPr>
          <p:cNvPr id="13" name="Text 11"/>
          <p:cNvSpPr/>
          <p:nvPr/>
        </p:nvSpPr>
        <p:spPr>
          <a:xfrm>
            <a:off x="1276329" y="4704932"/>
            <a:ext cx="2011147" cy="457196"/>
          </a:xfrm>
          <a:prstGeom prst="rect">
            <a:avLst/>
          </a:prstGeom>
          <a:noFill/>
          <a:ln/>
        </p:spPr>
        <p:txBody>
          <a:bodyPr wrap="square" lIns="25400" tIns="25400" rIns="25400" bIns="25400" rtlCol="0" anchor="ctr">
            <a:normAutofit/>
          </a:bodyPr>
          <a:lstStyle/>
          <a:p>
            <a:pPr algn="l" indent="0" marL="0">
              <a:lnSpc>
                <a:spcPct val="137354"/>
              </a:lnSpc>
              <a:buNone/>
            </a:pPr>
            <a:r>
              <a:rPr lang="en-US" sz="1800" b="1" dirty="0">
                <a:solidFill>
                  <a:srgbClr val="F3F2F2"/>
                </a:solidFill>
                <a:latin typeface="Arial" pitchFamily="34" charset="0"/>
                <a:ea typeface="Arial" pitchFamily="34" charset="-122"/>
                <a:cs typeface="Arial" pitchFamily="34" charset="-120"/>
              </a:rPr>
              <a:t>10 valid</a:t>
            </a:r>
            <a:endParaRPr lang="en-US" sz="1800" dirty="0"/>
          </a:p>
        </p:txBody>
      </p:sp>
      <p:sp>
        <p:nvSpPr>
          <p:cNvPr id="14" name="Shape 12"/>
          <p:cNvSpPr/>
          <p:nvPr/>
        </p:nvSpPr>
        <p:spPr>
          <a:xfrm>
            <a:off x="3211277" y="4704932"/>
            <a:ext cx="3722977" cy="419096"/>
          </a:xfrm>
          <a:prstGeom prst="rect">
            <a:avLst/>
          </a:prstGeom>
          <a:solidFill>
            <a:srgbClr val="EC3013"/>
          </a:solidFill>
          <a:ln/>
        </p:spPr>
      </p:sp>
      <p:sp>
        <p:nvSpPr>
          <p:cNvPr id="15" name="Text 13"/>
          <p:cNvSpPr/>
          <p:nvPr/>
        </p:nvSpPr>
        <p:spPr>
          <a:xfrm>
            <a:off x="3344627" y="4704932"/>
            <a:ext cx="3701316" cy="457196"/>
          </a:xfrm>
          <a:prstGeom prst="rect">
            <a:avLst/>
          </a:prstGeom>
          <a:noFill/>
          <a:ln/>
        </p:spPr>
        <p:txBody>
          <a:bodyPr wrap="square" lIns="25400" tIns="25400" rIns="25400" bIns="25400" rtlCol="0" anchor="ctr">
            <a:normAutofit/>
          </a:bodyPr>
          <a:lstStyle/>
          <a:p>
            <a:pPr algn="l" indent="0" marL="0">
              <a:lnSpc>
                <a:spcPct val="137354"/>
              </a:lnSpc>
              <a:buNone/>
            </a:pPr>
            <a:r>
              <a:rPr lang="en-US" sz="1800" b="1" dirty="0">
                <a:solidFill>
                  <a:srgbClr val="F3F2F2"/>
                </a:solidFill>
                <a:latin typeface="Arial" pitchFamily="34" charset="0"/>
                <a:ea typeface="Arial" pitchFamily="34" charset="-122"/>
                <a:cs typeface="Arial" pitchFamily="34" charset="-120"/>
              </a:rPr>
              <a:t>18 invalid</a:t>
            </a:r>
            <a:endParaRPr lang="en-US" sz="1800" dirty="0"/>
          </a:p>
        </p:txBody>
      </p:sp>
      <p:sp>
        <p:nvSpPr>
          <p:cNvPr id="16" name="Text 14"/>
          <p:cNvSpPr/>
          <p:nvPr/>
        </p:nvSpPr>
        <p:spPr>
          <a:xfrm>
            <a:off x="1142979" y="5371662"/>
            <a:ext cx="6370402"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Unit · Integration · GUI (offscreen)</a:t>
            </a:r>
            <a:endParaRPr lang="en-US" sz="2100" dirty="0"/>
          </a:p>
        </p:txBody>
      </p:sp>
      <p:sp>
        <p:nvSpPr>
          <p:cNvPr id="17" name="Shape 15"/>
          <p:cNvSpPr/>
          <p:nvPr/>
        </p:nvSpPr>
        <p:spPr>
          <a:xfrm>
            <a:off x="1142979" y="6005938"/>
            <a:ext cx="5791274" cy="13229"/>
          </a:xfrm>
          <a:prstGeom prst="rect">
            <a:avLst/>
          </a:prstGeom>
          <a:solidFill>
            <a:srgbClr val="201E1E">
              <a:alpha val="40000"/>
            </a:srgbClr>
          </a:solidFill>
          <a:ln/>
        </p:spPr>
      </p:sp>
      <p:sp>
        <p:nvSpPr>
          <p:cNvPr id="18" name="Text 16"/>
          <p:cNvSpPr/>
          <p:nvPr/>
        </p:nvSpPr>
        <p:spPr>
          <a:xfrm>
            <a:off x="1142979" y="6171509"/>
            <a:ext cx="6370402"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EDGE CASES COVERED</a:t>
            </a:r>
            <a:endParaRPr lang="en-US" sz="1800" dirty="0"/>
          </a:p>
        </p:txBody>
      </p:sp>
      <p:sp>
        <p:nvSpPr>
          <p:cNvPr id="19" name="Text 17"/>
          <p:cNvSpPr/>
          <p:nvPr/>
        </p:nvSpPr>
        <p:spPr>
          <a:xfrm>
            <a:off x="1142979" y="6659128"/>
            <a:ext cx="3059462"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Boundary years</a:t>
            </a:r>
            <a:endParaRPr lang="en-US" sz="2100" dirty="0"/>
          </a:p>
        </p:txBody>
      </p:sp>
      <p:sp>
        <p:nvSpPr>
          <p:cNvPr id="20" name="Text 18"/>
          <p:cNvSpPr/>
          <p:nvPr/>
        </p:nvSpPr>
        <p:spPr>
          <a:xfrm>
            <a:off x="4152821" y="6659128"/>
            <a:ext cx="305957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Prefix errors</a:t>
            </a:r>
            <a:endParaRPr lang="en-US" sz="2100" dirty="0"/>
          </a:p>
        </p:txBody>
      </p:sp>
      <p:sp>
        <p:nvSpPr>
          <p:cNvPr id="21" name="Text 19"/>
          <p:cNvSpPr/>
          <p:nvPr/>
        </p:nvSpPr>
        <p:spPr>
          <a:xfrm>
            <a:off x="1142979" y="7140959"/>
            <a:ext cx="2864769"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Missing / double hyphens</a:t>
            </a:r>
            <a:endParaRPr lang="en-US" sz="2100" dirty="0"/>
          </a:p>
        </p:txBody>
      </p:sp>
      <p:sp>
        <p:nvSpPr>
          <p:cNvPr id="22" name="Text 20"/>
          <p:cNvSpPr/>
          <p:nvPr/>
        </p:nvSpPr>
        <p:spPr>
          <a:xfrm>
            <a:off x="4152821" y="7140959"/>
            <a:ext cx="2864875"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Underscores</a:t>
            </a:r>
            <a:endParaRPr lang="en-US" sz="2100" dirty="0"/>
          </a:p>
        </p:txBody>
      </p:sp>
      <p:sp>
        <p:nvSpPr>
          <p:cNvPr id="23" name="Text 21"/>
          <p:cNvSpPr/>
          <p:nvPr/>
        </p:nvSpPr>
        <p:spPr>
          <a:xfrm>
            <a:off x="1142979" y="8009433"/>
            <a:ext cx="3059462"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Lowercase input</a:t>
            </a:r>
            <a:endParaRPr lang="en-US" sz="2100" dirty="0"/>
          </a:p>
        </p:txBody>
      </p:sp>
      <p:sp>
        <p:nvSpPr>
          <p:cNvPr id="24" name="Text 22"/>
          <p:cNvSpPr/>
          <p:nvPr/>
        </p:nvSpPr>
        <p:spPr>
          <a:xfrm>
            <a:off x="4152821" y="8009433"/>
            <a:ext cx="305957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Truncated IDs</a:t>
            </a:r>
            <a:endParaRPr lang="en-US" sz="2100" dirty="0"/>
          </a:p>
        </p:txBody>
      </p:sp>
      <p:sp>
        <p:nvSpPr>
          <p:cNvPr id="25" name="Text 23"/>
          <p:cNvSpPr/>
          <p:nvPr/>
        </p:nvSpPr>
        <p:spPr>
          <a:xfrm>
            <a:off x="1142979" y="8491264"/>
            <a:ext cx="3059462"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Empty string</a:t>
            </a:r>
            <a:endParaRPr lang="en-US" sz="2100" dirty="0"/>
          </a:p>
        </p:txBody>
      </p:sp>
      <p:sp>
        <p:nvSpPr>
          <p:cNvPr id="26" name="Text 24"/>
          <p:cNvSpPr/>
          <p:nvPr/>
        </p:nvSpPr>
        <p:spPr>
          <a:xfrm>
            <a:off x="4152821" y="8491264"/>
            <a:ext cx="305957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Whitespace</a:t>
            </a:r>
            <a:endParaRPr lang="en-US" sz="2100" dirty="0"/>
          </a:p>
        </p:txBody>
      </p:sp>
      <p:pic>
        <p:nvPicPr>
          <p:cNvPr id="27" name="Image 0" descr="preencoded.png">    </p:cNvPr>
          <p:cNvPicPr>
            <a:picLocks noChangeAspect="1"/>
          </p:cNvPicPr>
          <p:nvPr/>
        </p:nvPicPr>
        <p:blipFill>
          <a:blip r:embed="rId1"/>
          <a:stretch>
            <a:fillRect/>
          </a:stretch>
        </p:blipFill>
        <p:spPr>
          <a:xfrm>
            <a:off x="7620000" y="2895534"/>
            <a:ext cx="9524999" cy="6145155"/>
          </a:xfrm>
          <a:prstGeom prst="rect">
            <a:avLst/>
          </a:prstGeom>
        </p:spPr>
      </p:pic>
      <p:pic>
        <p:nvPicPr>
          <p:cNvPr id="28" name="Image 1" descr="preencoded.png">    </p:cNvPr>
          <p:cNvPicPr>
            <a:picLocks noChangeAspect="1"/>
          </p:cNvPicPr>
          <p:nvPr/>
        </p:nvPicPr>
        <p:blipFill>
          <a:blip r:embed="rId2"/>
          <a:stretch>
            <a:fillRect/>
          </a:stretch>
        </p:blipFill>
        <p:spPr>
          <a:xfrm>
            <a:off x="1142979" y="9399323"/>
            <a:ext cx="4828129" cy="3542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201E1E">
              <a:alpha val="40000"/>
            </a:srgbClr>
          </a:solidFill>
          <a:ln/>
        </p:spPr>
      </p:sp>
      <p:sp>
        <p:nvSpPr>
          <p:cNvPr id="3" name="Text 1"/>
          <p:cNvSpPr/>
          <p:nvPr/>
        </p:nvSpPr>
        <p:spPr>
          <a:xfrm>
            <a:off x="1142979" y="495267"/>
            <a:ext cx="232173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13 · HIGHLIGHTS</a:t>
            </a:r>
            <a:endParaRPr lang="en-US" sz="1800" dirty="0"/>
          </a:p>
        </p:txBody>
      </p:sp>
      <p:sp>
        <p:nvSpPr>
          <p:cNvPr id="4" name="Text 2"/>
          <p:cNvSpPr/>
          <p:nvPr/>
        </p:nvSpPr>
        <p:spPr>
          <a:xfrm>
            <a:off x="14934281" y="495267"/>
            <a:ext cx="2431789"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201F1D">
                    <a:alpha val="62000"/>
                  </a:srgbClr>
                </a:solidFill>
                <a:latin typeface="Arial" pitchFamily="34" charset="0"/>
                <a:ea typeface="Arial" pitchFamily="34" charset="-122"/>
                <a:cs typeface="Arial" pitchFamily="34" charset="-120"/>
              </a:rPr>
              <a:t>AYSON + LAUZON</a:t>
            </a:r>
            <a:endParaRPr lang="en-US" sz="1800" dirty="0"/>
          </a:p>
        </p:txBody>
      </p:sp>
      <p:sp>
        <p:nvSpPr>
          <p:cNvPr id="5" name="Text 3"/>
          <p:cNvSpPr/>
          <p:nvPr/>
        </p:nvSpPr>
        <p:spPr>
          <a:xfrm>
            <a:off x="1107633" y="1676383"/>
            <a:ext cx="17641103" cy="647675"/>
          </a:xfrm>
          <a:prstGeom prst="rect">
            <a:avLst/>
          </a:prstGeom>
          <a:noFill/>
          <a:ln/>
        </p:spPr>
        <p:txBody>
          <a:bodyPr wrap="square" lIns="25400" tIns="25400" rIns="25400" bIns="25400" rtlCol="0" anchor="t">
            <a:normAutofit/>
          </a:bodyPr>
          <a:lstStyle/>
          <a:p>
            <a:pPr algn="l" indent="0" marL="0">
              <a:lnSpc>
                <a:spcPct val="86943"/>
              </a:lnSpc>
              <a:buNone/>
            </a:pPr>
            <a:r>
              <a:rPr lang="en-US" sz="4800" b="1" spc="-72" kern="0" dirty="0">
                <a:solidFill>
                  <a:srgbClr val="201E1D"/>
                </a:solidFill>
                <a:latin typeface="Arial" pitchFamily="34" charset="0"/>
                <a:ea typeface="Arial" pitchFamily="34" charset="-122"/>
                <a:cs typeface="Arial" pitchFamily="34" charset="-120"/>
              </a:rPr>
              <a:t>Engineering Decisions</a:t>
            </a:r>
            <a:endParaRPr lang="en-US" sz="4800" dirty="0"/>
          </a:p>
        </p:txBody>
      </p:sp>
      <p:sp>
        <p:nvSpPr>
          <p:cNvPr id="6" name="Shape 4"/>
          <p:cNvSpPr/>
          <p:nvPr/>
        </p:nvSpPr>
        <p:spPr>
          <a:xfrm>
            <a:off x="1142979" y="2971705"/>
            <a:ext cx="16002020" cy="13229"/>
          </a:xfrm>
          <a:prstGeom prst="rect">
            <a:avLst/>
          </a:prstGeom>
          <a:solidFill>
            <a:srgbClr val="201E1E">
              <a:alpha val="40000"/>
            </a:srgbClr>
          </a:solidFill>
          <a:ln/>
        </p:spPr>
      </p:sp>
      <p:sp>
        <p:nvSpPr>
          <p:cNvPr id="7" name="Shape 5"/>
          <p:cNvSpPr/>
          <p:nvPr/>
        </p:nvSpPr>
        <p:spPr>
          <a:xfrm>
            <a:off x="1142979" y="5560074"/>
            <a:ext cx="8000958" cy="13229"/>
          </a:xfrm>
          <a:prstGeom prst="rect">
            <a:avLst/>
          </a:prstGeom>
          <a:solidFill>
            <a:srgbClr val="201E1E">
              <a:alpha val="40000"/>
            </a:srgbClr>
          </a:solidFill>
          <a:ln/>
        </p:spPr>
      </p:sp>
      <p:sp>
        <p:nvSpPr>
          <p:cNvPr id="8" name="Shape 6"/>
          <p:cNvSpPr/>
          <p:nvPr/>
        </p:nvSpPr>
        <p:spPr>
          <a:xfrm>
            <a:off x="9130708" y="2984934"/>
            <a:ext cx="13229" cy="2588369"/>
          </a:xfrm>
          <a:prstGeom prst="rect">
            <a:avLst/>
          </a:prstGeom>
          <a:solidFill>
            <a:srgbClr val="201E1E">
              <a:alpha val="40000"/>
            </a:srgbClr>
          </a:solidFill>
          <a:ln/>
        </p:spPr>
      </p:sp>
      <p:sp>
        <p:nvSpPr>
          <p:cNvPr id="9" name="Text 7"/>
          <p:cNvSpPr/>
          <p:nvPr/>
        </p:nvSpPr>
        <p:spPr>
          <a:xfrm>
            <a:off x="1142979" y="3289722"/>
            <a:ext cx="81159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01 · LAUZON</a:t>
            </a:r>
            <a:endParaRPr lang="en-US" sz="1800" dirty="0"/>
          </a:p>
        </p:txBody>
      </p:sp>
      <p:sp>
        <p:nvSpPr>
          <p:cNvPr id="10" name="Text 8"/>
          <p:cNvSpPr/>
          <p:nvPr/>
        </p:nvSpPr>
        <p:spPr>
          <a:xfrm>
            <a:off x="1142979" y="3796357"/>
            <a:ext cx="8115970" cy="495230"/>
          </a:xfrm>
          <a:prstGeom prst="rect">
            <a:avLst/>
          </a:prstGeom>
          <a:noFill/>
          <a:ln/>
        </p:spPr>
        <p:txBody>
          <a:bodyPr wrap="square" lIns="25400" tIns="25400" rIns="25400" bIns="25400" rtlCol="0" anchor="t">
            <a:normAutofit/>
          </a:bodyPr>
          <a:lstStyle/>
          <a:p>
            <a:pPr algn="l" indent="0" marL="0">
              <a:lnSpc>
                <a:spcPct val="104727"/>
              </a:lnSpc>
              <a:buNone/>
            </a:pPr>
            <a:r>
              <a:rPr lang="en-US" sz="3000" b="1" dirty="0">
                <a:solidFill>
                  <a:srgbClr val="201E1D"/>
                </a:solidFill>
                <a:latin typeface="Arial" pitchFamily="34" charset="0"/>
                <a:ea typeface="Arial" pitchFamily="34" charset="-122"/>
                <a:cs typeface="Arial" pitchFamily="34" charset="-120"/>
              </a:rPr>
              <a:t>Unified simulation engine</a:t>
            </a:r>
            <a:endParaRPr lang="en-US" sz="3000" dirty="0"/>
          </a:p>
        </p:txBody>
      </p:sp>
      <p:sp>
        <p:nvSpPr>
          <p:cNvPr id="11" name="Text 9"/>
          <p:cNvSpPr/>
          <p:nvPr/>
        </p:nvSpPr>
        <p:spPr>
          <a:xfrm>
            <a:off x="1142979" y="4405829"/>
            <a:ext cx="7599499"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app.core.simulator.Run drives both GUI stepping and batch validation</a:t>
            </a:r>
            <a:endParaRPr lang="en-US" sz="2100" dirty="0"/>
          </a:p>
        </p:txBody>
      </p:sp>
      <p:sp>
        <p:nvSpPr>
          <p:cNvPr id="12" name="Shape 10"/>
          <p:cNvSpPr/>
          <p:nvPr/>
        </p:nvSpPr>
        <p:spPr>
          <a:xfrm>
            <a:off x="9143938" y="5560074"/>
            <a:ext cx="8001062" cy="13229"/>
          </a:xfrm>
          <a:prstGeom prst="rect">
            <a:avLst/>
          </a:prstGeom>
          <a:solidFill>
            <a:srgbClr val="201E1E">
              <a:alpha val="40000"/>
            </a:srgbClr>
          </a:solidFill>
          <a:ln/>
        </p:spPr>
      </p:sp>
      <p:sp>
        <p:nvSpPr>
          <p:cNvPr id="13" name="Text 11"/>
          <p:cNvSpPr/>
          <p:nvPr/>
        </p:nvSpPr>
        <p:spPr>
          <a:xfrm>
            <a:off x="9753513" y="3289722"/>
            <a:ext cx="813063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02 · LAUZON</a:t>
            </a:r>
            <a:endParaRPr lang="en-US" sz="1800" dirty="0"/>
          </a:p>
        </p:txBody>
      </p:sp>
      <p:sp>
        <p:nvSpPr>
          <p:cNvPr id="14" name="Text 12"/>
          <p:cNvSpPr/>
          <p:nvPr/>
        </p:nvSpPr>
        <p:spPr>
          <a:xfrm>
            <a:off x="9753513" y="3796357"/>
            <a:ext cx="8130635" cy="495230"/>
          </a:xfrm>
          <a:prstGeom prst="rect">
            <a:avLst/>
          </a:prstGeom>
          <a:noFill/>
          <a:ln/>
        </p:spPr>
        <p:txBody>
          <a:bodyPr wrap="square" lIns="25400" tIns="25400" rIns="25400" bIns="25400" rtlCol="0" anchor="t">
            <a:normAutofit/>
          </a:bodyPr>
          <a:lstStyle/>
          <a:p>
            <a:pPr algn="l" indent="0" marL="0">
              <a:lnSpc>
                <a:spcPct val="104727"/>
              </a:lnSpc>
              <a:buNone/>
            </a:pPr>
            <a:r>
              <a:rPr lang="en-US" sz="3000" b="1" dirty="0">
                <a:solidFill>
                  <a:srgbClr val="201E1D"/>
                </a:solidFill>
                <a:latin typeface="Arial" pitchFamily="34" charset="0"/>
                <a:ea typeface="Arial" pitchFamily="34" charset="-122"/>
                <a:cs typeface="Arial" pitchFamily="34" charset="-120"/>
              </a:rPr>
              <a:t>Character-class Thompson atom</a:t>
            </a:r>
            <a:endParaRPr lang="en-US" sz="3000" dirty="0"/>
          </a:p>
        </p:txBody>
      </p:sp>
      <p:sp>
        <p:nvSpPr>
          <p:cNvPr id="15" name="Text 13"/>
          <p:cNvSpPr/>
          <p:nvPr/>
        </p:nvSpPr>
        <p:spPr>
          <a:xfrm>
            <a:off x="9753513" y="4405829"/>
            <a:ext cx="7613231"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Digit unions consolidated without changing language semantics</a:t>
            </a:r>
            <a:endParaRPr lang="en-US" sz="2100" dirty="0"/>
          </a:p>
        </p:txBody>
      </p:sp>
      <p:sp>
        <p:nvSpPr>
          <p:cNvPr id="16" name="Shape 14"/>
          <p:cNvSpPr/>
          <p:nvPr/>
        </p:nvSpPr>
        <p:spPr>
          <a:xfrm>
            <a:off x="9130708" y="5573303"/>
            <a:ext cx="13229" cy="2270352"/>
          </a:xfrm>
          <a:prstGeom prst="rect">
            <a:avLst/>
          </a:prstGeom>
          <a:solidFill>
            <a:srgbClr val="201E1E">
              <a:alpha val="40000"/>
            </a:srgbClr>
          </a:solidFill>
          <a:ln/>
        </p:spPr>
      </p:sp>
      <p:sp>
        <p:nvSpPr>
          <p:cNvPr id="17" name="Text 15"/>
          <p:cNvSpPr/>
          <p:nvPr/>
        </p:nvSpPr>
        <p:spPr>
          <a:xfrm>
            <a:off x="1142979" y="5954262"/>
            <a:ext cx="8115970"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03 · AYSON</a:t>
            </a:r>
            <a:endParaRPr lang="en-US" sz="1800" dirty="0"/>
          </a:p>
        </p:txBody>
      </p:sp>
      <p:sp>
        <p:nvSpPr>
          <p:cNvPr id="18" name="Text 16"/>
          <p:cNvSpPr/>
          <p:nvPr/>
        </p:nvSpPr>
        <p:spPr>
          <a:xfrm>
            <a:off x="1142979" y="6460897"/>
            <a:ext cx="8115970" cy="495230"/>
          </a:xfrm>
          <a:prstGeom prst="rect">
            <a:avLst/>
          </a:prstGeom>
          <a:noFill/>
          <a:ln/>
        </p:spPr>
        <p:txBody>
          <a:bodyPr wrap="square" lIns="25400" tIns="25400" rIns="25400" bIns="25400" rtlCol="0" anchor="t">
            <a:normAutofit/>
          </a:bodyPr>
          <a:lstStyle/>
          <a:p>
            <a:pPr algn="l" indent="0" marL="0">
              <a:lnSpc>
                <a:spcPct val="104727"/>
              </a:lnSpc>
              <a:buNone/>
            </a:pPr>
            <a:r>
              <a:rPr lang="en-US" sz="3000" b="1" dirty="0">
                <a:solidFill>
                  <a:srgbClr val="201E1D"/>
                </a:solidFill>
                <a:latin typeface="Arial" pitchFamily="34" charset="0"/>
                <a:ea typeface="Arial" pitchFamily="34" charset="-122"/>
                <a:cs typeface="Arial" pitchFamily="34" charset="-120"/>
              </a:rPr>
              <a:t>Reproducible documentation</a:t>
            </a:r>
            <a:endParaRPr lang="en-US" sz="3000" dirty="0"/>
          </a:p>
        </p:txBody>
      </p:sp>
      <p:sp>
        <p:nvSpPr>
          <p:cNvPr id="19" name="Text 17"/>
          <p:cNvSpPr/>
          <p:nvPr/>
        </p:nvSpPr>
        <p:spPr>
          <a:xfrm>
            <a:off x="1142979" y="7070369"/>
            <a:ext cx="7599499" cy="811386"/>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Verification and documentation artifacts regenerate from the implementation</a:t>
            </a:r>
            <a:endParaRPr lang="en-US" sz="2100" dirty="0"/>
          </a:p>
        </p:txBody>
      </p:sp>
      <p:sp>
        <p:nvSpPr>
          <p:cNvPr id="20" name="Text 18"/>
          <p:cNvSpPr/>
          <p:nvPr/>
        </p:nvSpPr>
        <p:spPr>
          <a:xfrm>
            <a:off x="9753513" y="5954262"/>
            <a:ext cx="8130635"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AE1800"/>
                </a:solidFill>
                <a:latin typeface="Arial" pitchFamily="34" charset="0"/>
                <a:ea typeface="Arial" pitchFamily="34" charset="-122"/>
                <a:cs typeface="Arial" pitchFamily="34" charset="-120"/>
              </a:rPr>
              <a:t>04 · AYSON</a:t>
            </a:r>
            <a:endParaRPr lang="en-US" sz="1800" dirty="0"/>
          </a:p>
        </p:txBody>
      </p:sp>
      <p:sp>
        <p:nvSpPr>
          <p:cNvPr id="21" name="Text 19"/>
          <p:cNvSpPr/>
          <p:nvPr/>
        </p:nvSpPr>
        <p:spPr>
          <a:xfrm>
            <a:off x="9753513" y="6460897"/>
            <a:ext cx="8130635" cy="495230"/>
          </a:xfrm>
          <a:prstGeom prst="rect">
            <a:avLst/>
          </a:prstGeom>
          <a:noFill/>
          <a:ln/>
        </p:spPr>
        <p:txBody>
          <a:bodyPr wrap="square" lIns="25400" tIns="25400" rIns="25400" bIns="25400" rtlCol="0" anchor="t">
            <a:normAutofit/>
          </a:bodyPr>
          <a:lstStyle/>
          <a:p>
            <a:pPr algn="l" indent="0" marL="0">
              <a:lnSpc>
                <a:spcPct val="104727"/>
              </a:lnSpc>
              <a:buNone/>
            </a:pPr>
            <a:r>
              <a:rPr lang="en-US" sz="3000" b="1" dirty="0">
                <a:solidFill>
                  <a:srgbClr val="201E1D"/>
                </a:solidFill>
                <a:latin typeface="Arial" pitchFamily="34" charset="0"/>
                <a:ea typeface="Arial" pitchFamily="34" charset="-122"/>
                <a:cs typeface="Arial" pitchFamily="34" charset="-120"/>
              </a:rPr>
              <a:t>Accessibility and motion control</a:t>
            </a:r>
            <a:endParaRPr lang="en-US" sz="3000" dirty="0"/>
          </a:p>
        </p:txBody>
      </p:sp>
      <p:sp>
        <p:nvSpPr>
          <p:cNvPr id="22" name="Text 20"/>
          <p:cNvSpPr/>
          <p:nvPr/>
        </p:nvSpPr>
        <p:spPr>
          <a:xfrm>
            <a:off x="9753513" y="7070369"/>
            <a:ext cx="8130635" cy="424743"/>
          </a:xfrm>
          <a:prstGeom prst="rect">
            <a:avLst/>
          </a:prstGeom>
          <a:noFill/>
          <a:ln/>
        </p:spPr>
        <p:txBody>
          <a:bodyPr wrap="square" lIns="25400" tIns="25400" rIns="25400" bIns="25400" rtlCol="0" anchor="t">
            <a:normAutofit/>
          </a:bodyPr>
          <a:lstStyle/>
          <a:p>
            <a:pPr algn="l" indent="0" marL="0">
              <a:lnSpc>
                <a:spcPct val="124391"/>
              </a:lnSpc>
              <a:buNone/>
            </a:pPr>
            <a:r>
              <a:rPr lang="en-US" sz="2100" dirty="0">
                <a:solidFill>
                  <a:srgbClr val="201E1D"/>
                </a:solidFill>
                <a:latin typeface="Arial" pitchFamily="34" charset="0"/>
                <a:ea typeface="Arial" pitchFamily="34" charset="-122"/>
                <a:cs typeface="Arial" pitchFamily="34" charset="-120"/>
              </a:rPr>
              <a:t>Keyboard navigation and reduced-motion support</a:t>
            </a:r>
            <a:endParaRPr lang="en-US" sz="2100" dirty="0"/>
          </a:p>
        </p:txBody>
      </p:sp>
      <p:pic>
        <p:nvPicPr>
          <p:cNvPr id="23" name="Image 0" descr="preencoded.png">    </p:cNvPr>
          <p:cNvPicPr>
            <a:picLocks noChangeAspect="1"/>
          </p:cNvPicPr>
          <p:nvPr/>
        </p:nvPicPr>
        <p:blipFill>
          <a:blip r:embed="rId1"/>
          <a:stretch>
            <a:fillRect/>
          </a:stretch>
        </p:blipFill>
        <p:spPr>
          <a:xfrm>
            <a:off x="1142979" y="9399323"/>
            <a:ext cx="4828129" cy="3542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3013"/>
        </a:solidFill>
      </p:bgPr>
    </p:bg>
    <p:spTree>
      <p:nvGrpSpPr>
        <p:cNvPr id="1" name=""/>
        <p:cNvGrpSpPr/>
        <p:nvPr/>
      </p:nvGrpSpPr>
      <p:grpSpPr>
        <a:xfrm>
          <a:off x="0" y="0"/>
          <a:ext cx="0" cy="0"/>
          <a:chOff x="0" y="0"/>
          <a:chExt cx="0" cy="0"/>
        </a:xfrm>
      </p:grpSpPr>
      <p:sp>
        <p:nvSpPr>
          <p:cNvPr id="2" name="Shape 0"/>
          <p:cNvSpPr/>
          <p:nvPr/>
        </p:nvSpPr>
        <p:spPr>
          <a:xfrm>
            <a:off x="1142979" y="1059057"/>
            <a:ext cx="16002020" cy="13229"/>
          </a:xfrm>
          <a:prstGeom prst="rect">
            <a:avLst/>
          </a:prstGeom>
          <a:solidFill>
            <a:srgbClr val="F3F2F2"/>
          </a:solidFill>
          <a:ln/>
        </p:spPr>
      </p:sp>
      <p:sp>
        <p:nvSpPr>
          <p:cNvPr id="3" name="Text 1"/>
          <p:cNvSpPr/>
          <p:nvPr/>
        </p:nvSpPr>
        <p:spPr>
          <a:xfrm>
            <a:off x="1142979" y="495267"/>
            <a:ext cx="2454186"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F3F2F2"/>
                </a:solidFill>
                <a:latin typeface="Arial" pitchFamily="34" charset="0"/>
                <a:ea typeface="Arial" pitchFamily="34" charset="-122"/>
                <a:cs typeface="Arial" pitchFamily="34" charset="-120"/>
              </a:rPr>
              <a:t>14 · CONCLUSION</a:t>
            </a:r>
            <a:endParaRPr lang="en-US" sz="1800" dirty="0"/>
          </a:p>
        </p:txBody>
      </p:sp>
      <p:sp>
        <p:nvSpPr>
          <p:cNvPr id="4" name="Text 2"/>
          <p:cNvSpPr/>
          <p:nvPr/>
        </p:nvSpPr>
        <p:spPr>
          <a:xfrm>
            <a:off x="12922622" y="495267"/>
            <a:ext cx="4644616" cy="392394"/>
          </a:xfrm>
          <a:prstGeom prst="rect">
            <a:avLst/>
          </a:prstGeom>
          <a:noFill/>
          <a:ln/>
        </p:spPr>
        <p:txBody>
          <a:bodyPr wrap="square" lIns="25400" tIns="25400" rIns="25400" bIns="25400" rtlCol="0" anchor="t">
            <a:normAutofit/>
          </a:bodyPr>
          <a:lstStyle/>
          <a:p>
            <a:pPr algn="l" indent="0" marL="0">
              <a:lnSpc>
                <a:spcPct val="137354"/>
              </a:lnSpc>
              <a:buNone/>
            </a:pPr>
            <a:r>
              <a:rPr lang="en-US" sz="1800" spc="144" kern="0" dirty="0">
                <a:solidFill>
                  <a:srgbClr val="F3F2F2"/>
                </a:solidFill>
                <a:latin typeface="Arial" pitchFamily="34" charset="0"/>
                <a:ea typeface="Arial" pitchFamily="34" charset="-122"/>
                <a:cs typeface="Arial" pitchFamily="34" charset="-120"/>
              </a:rPr>
              <a:t>TALINGTING — PROJECT LEADER</a:t>
            </a:r>
            <a:endParaRPr lang="en-US" sz="1800" dirty="0"/>
          </a:p>
        </p:txBody>
      </p:sp>
      <p:sp>
        <p:nvSpPr>
          <p:cNvPr id="5" name="Text 3"/>
          <p:cNvSpPr/>
          <p:nvPr/>
        </p:nvSpPr>
        <p:spPr>
          <a:xfrm>
            <a:off x="1142979" y="2285959"/>
            <a:ext cx="17602222" cy="539982"/>
          </a:xfrm>
          <a:prstGeom prst="rect">
            <a:avLst/>
          </a:prstGeom>
          <a:noFill/>
          <a:ln/>
        </p:spPr>
        <p:txBody>
          <a:bodyPr wrap="square" lIns="25400" tIns="25400" rIns="25400" bIns="25400" rtlCol="0" anchor="t">
            <a:normAutofit/>
          </a:bodyPr>
          <a:lstStyle/>
          <a:p>
            <a:pPr algn="l" indent="0" marL="0">
              <a:lnSpc>
                <a:spcPct val="135514"/>
              </a:lnSpc>
              <a:buNone/>
            </a:pPr>
            <a:r>
              <a:rPr lang="en-US" sz="2550" b="1" dirty="0">
                <a:solidFill>
                  <a:srgbClr val="F3F2F2"/>
                </a:solidFill>
                <a:latin typeface="Arial" pitchFamily="34" charset="0"/>
                <a:ea typeface="Arial" pitchFamily="34" charset="-122"/>
                <a:cs typeface="Arial" pitchFamily="34" charset="-120"/>
              </a:rPr>
              <a:t>Language → RE → ε-NFA → DFA → Minimal DFA → Simulation</a:t>
            </a:r>
            <a:endParaRPr lang="en-US" sz="2550" dirty="0"/>
          </a:p>
        </p:txBody>
      </p:sp>
      <p:sp>
        <p:nvSpPr>
          <p:cNvPr id="6" name="Text 4"/>
          <p:cNvSpPr/>
          <p:nvPr/>
        </p:nvSpPr>
        <p:spPr>
          <a:xfrm>
            <a:off x="1070115" y="3473586"/>
            <a:ext cx="16557130" cy="2552675"/>
          </a:xfrm>
          <a:prstGeom prst="rect">
            <a:avLst/>
          </a:prstGeom>
          <a:noFill/>
          <a:ln/>
        </p:spPr>
        <p:txBody>
          <a:bodyPr wrap="square" lIns="25400" tIns="25400" rIns="25400" bIns="25400" rtlCol="0" anchor="t">
            <a:normAutofit/>
          </a:bodyPr>
          <a:lstStyle/>
          <a:p>
            <a:pPr algn="l" indent="0" marL="0">
              <a:lnSpc>
                <a:spcPct val="87193"/>
              </a:lnSpc>
              <a:buNone/>
            </a:pPr>
            <a:r>
              <a:rPr lang="en-US" sz="9900" b="1" spc="-198" kern="0" dirty="0">
                <a:solidFill>
                  <a:srgbClr val="F3F2F2"/>
                </a:solidFill>
                <a:latin typeface="Arial" pitchFamily="34" charset="0"/>
                <a:ea typeface="Arial" pitchFamily="34" charset="-122"/>
                <a:cs typeface="Arial" pitchFamily="34" charset="-120"/>
              </a:rPr>
              <a:t>Thank you — questions and discussion</a:t>
            </a:r>
            <a:endParaRPr lang="en-US" sz="9900" dirty="0"/>
          </a:p>
        </p:txBody>
      </p:sp>
      <p:sp>
        <p:nvSpPr>
          <p:cNvPr id="7" name="Shape 5"/>
          <p:cNvSpPr/>
          <p:nvPr/>
        </p:nvSpPr>
        <p:spPr>
          <a:xfrm>
            <a:off x="1142979" y="8045090"/>
            <a:ext cx="5029253" cy="13229"/>
          </a:xfrm>
          <a:prstGeom prst="rect">
            <a:avLst/>
          </a:prstGeom>
          <a:solidFill>
            <a:srgbClr val="F3F2F2"/>
          </a:solidFill>
          <a:ln/>
        </p:spPr>
      </p:sp>
      <p:sp>
        <p:nvSpPr>
          <p:cNvPr id="8" name="Text 6"/>
          <p:cNvSpPr/>
          <p:nvPr/>
        </p:nvSpPr>
        <p:spPr>
          <a:xfrm>
            <a:off x="1142979" y="8229678"/>
            <a:ext cx="5532179" cy="495230"/>
          </a:xfrm>
          <a:prstGeom prst="rect">
            <a:avLst/>
          </a:prstGeom>
          <a:noFill/>
          <a:ln/>
        </p:spPr>
        <p:txBody>
          <a:bodyPr wrap="square" lIns="25400" tIns="25400" rIns="25400" bIns="25400" rtlCol="0" anchor="t">
            <a:normAutofit/>
          </a:bodyPr>
          <a:lstStyle/>
          <a:p>
            <a:pPr algn="l" indent="0" marL="0">
              <a:lnSpc>
                <a:spcPct val="104727"/>
              </a:lnSpc>
              <a:buNone/>
            </a:pPr>
            <a:r>
              <a:rPr lang="en-US" sz="3000" b="1" dirty="0">
                <a:solidFill>
                  <a:srgbClr val="F3F2F2"/>
                </a:solidFill>
                <a:latin typeface="Arial" pitchFamily="34" charset="0"/>
                <a:ea typeface="Arial" pitchFamily="34" charset="-122"/>
                <a:cs typeface="Arial" pitchFamily="34" charset="-120"/>
              </a:rPr>
              <a:t>15-state DFA is minimal</a:t>
            </a:r>
            <a:endParaRPr lang="en-US" sz="3000" dirty="0"/>
          </a:p>
        </p:txBody>
      </p:sp>
      <p:sp>
        <p:nvSpPr>
          <p:cNvPr id="9" name="Shape 7"/>
          <p:cNvSpPr/>
          <p:nvPr/>
        </p:nvSpPr>
        <p:spPr>
          <a:xfrm>
            <a:off x="6629363" y="8045090"/>
            <a:ext cx="5029253" cy="13229"/>
          </a:xfrm>
          <a:prstGeom prst="rect">
            <a:avLst/>
          </a:prstGeom>
          <a:solidFill>
            <a:srgbClr val="F3F2F2"/>
          </a:solidFill>
          <a:ln/>
        </p:spPr>
      </p:sp>
      <p:sp>
        <p:nvSpPr>
          <p:cNvPr id="10" name="Text 8"/>
          <p:cNvSpPr/>
          <p:nvPr/>
        </p:nvSpPr>
        <p:spPr>
          <a:xfrm>
            <a:off x="6629363" y="8229678"/>
            <a:ext cx="5180131" cy="952359"/>
          </a:xfrm>
          <a:prstGeom prst="rect">
            <a:avLst/>
          </a:prstGeom>
          <a:noFill/>
          <a:ln/>
        </p:spPr>
        <p:txBody>
          <a:bodyPr wrap="square" lIns="25400" tIns="25400" rIns="25400" bIns="25400" rtlCol="0" anchor="t">
            <a:normAutofit/>
          </a:bodyPr>
          <a:lstStyle/>
          <a:p>
            <a:pPr algn="l" indent="0" marL="0">
              <a:lnSpc>
                <a:spcPct val="104727"/>
              </a:lnSpc>
              <a:buNone/>
            </a:pPr>
            <a:r>
              <a:rPr lang="en-US" sz="3000" b="1" dirty="0">
                <a:solidFill>
                  <a:srgbClr val="F3F2F2"/>
                </a:solidFill>
                <a:latin typeface="Arial" pitchFamily="34" charset="0"/>
                <a:ea typeface="Arial" pitchFamily="34" charset="-122"/>
                <a:cs typeface="Arial" pitchFamily="34" charset="-120"/>
              </a:rPr>
              <a:t>Formal equivalence verified</a:t>
            </a:r>
            <a:endParaRPr lang="en-US" sz="3000" dirty="0"/>
          </a:p>
        </p:txBody>
      </p:sp>
      <p:sp>
        <p:nvSpPr>
          <p:cNvPr id="11" name="Shape 9"/>
          <p:cNvSpPr/>
          <p:nvPr/>
        </p:nvSpPr>
        <p:spPr>
          <a:xfrm>
            <a:off x="12115745" y="8045090"/>
            <a:ext cx="5029253" cy="13229"/>
          </a:xfrm>
          <a:prstGeom prst="rect">
            <a:avLst/>
          </a:prstGeom>
          <a:solidFill>
            <a:srgbClr val="F3F2F2"/>
          </a:solidFill>
          <a:ln/>
        </p:spPr>
      </p:sp>
      <p:sp>
        <p:nvSpPr>
          <p:cNvPr id="12" name="Text 10"/>
          <p:cNvSpPr/>
          <p:nvPr/>
        </p:nvSpPr>
        <p:spPr>
          <a:xfrm>
            <a:off x="12115745" y="8229678"/>
            <a:ext cx="5532179" cy="495230"/>
          </a:xfrm>
          <a:prstGeom prst="rect">
            <a:avLst/>
          </a:prstGeom>
          <a:noFill/>
          <a:ln/>
        </p:spPr>
        <p:txBody>
          <a:bodyPr wrap="square" lIns="25400" tIns="25400" rIns="25400" bIns="25400" rtlCol="0" anchor="t">
            <a:normAutofit/>
          </a:bodyPr>
          <a:lstStyle/>
          <a:p>
            <a:pPr algn="l" indent="0" marL="0">
              <a:lnSpc>
                <a:spcPct val="104727"/>
              </a:lnSpc>
              <a:buNone/>
            </a:pPr>
            <a:r>
              <a:rPr lang="en-US" sz="3000" b="1" dirty="0">
                <a:solidFill>
                  <a:srgbClr val="F3F2F2"/>
                </a:solidFill>
                <a:latin typeface="Arial" pitchFamily="34" charset="0"/>
                <a:ea typeface="Arial" pitchFamily="34" charset="-122"/>
                <a:cs typeface="Arial" pitchFamily="34" charset="-120"/>
              </a:rPr>
              <a:t>Working educational GUI</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2026-10-08T10:31:35Z</dcterms:created>
  <dcterms:modified xsi:type="dcterms:W3CDTF">2026-10-08T10:31:35Z</dcterms:modified>
</cp:coreProperties>
</file>